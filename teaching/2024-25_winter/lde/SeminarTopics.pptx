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1"/>
  </p:sldMasterIdLst>
  <p:notesMasterIdLst>
    <p:notesMasterId r:id="rId9"/>
  </p:notesMasterIdLst>
  <p:sldIdLst>
    <p:sldId id="416" r:id="rId2"/>
    <p:sldId id="409" r:id="rId3"/>
    <p:sldId id="436" r:id="rId4"/>
    <p:sldId id="439" r:id="rId5"/>
    <p:sldId id="444" r:id="rId6"/>
    <p:sldId id="438" r:id="rId7"/>
    <p:sldId id="44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89FB"/>
    <a:srgbClr val="000000"/>
    <a:srgbClr val="C40D1E"/>
    <a:srgbClr val="FF6C00"/>
    <a:srgbClr val="1F90CC"/>
    <a:srgbClr val="9013FE"/>
    <a:srgbClr val="434343"/>
    <a:srgbClr val="C40E02"/>
    <a:srgbClr val="FFFFFF"/>
    <a:srgbClr val="49C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84321" autoAdjust="0"/>
  </p:normalViewPr>
  <p:slideViewPr>
    <p:cSldViewPr snapToGrid="0" snapToObjects="1">
      <p:cViewPr varScale="1">
        <p:scale>
          <a:sx n="84" d="100"/>
          <a:sy n="84" d="100"/>
        </p:scale>
        <p:origin x="102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13.10.2024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799" y="1268963"/>
            <a:ext cx="5545201" cy="4506685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Clr>
                <a:srgbClr val="C40D1E"/>
              </a:buClr>
              <a:buSzPct val="100000"/>
              <a:buFont typeface="Wingdings" panose="05000000000000000000" pitchFamily="2" charset="2"/>
              <a:buChar char="§"/>
              <a:defRPr sz="2000" b="1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 b="1">
                <a:solidFill>
                  <a:srgbClr val="C40D1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Headline</a:t>
            </a:r>
            <a:br>
              <a:rPr lang="en-US" noProof="0" dirty="0"/>
            </a:br>
            <a:r>
              <a:rPr lang="en-US" noProof="0" dirty="0"/>
              <a:t>optionally 2 lines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124D4CAA-133B-B88A-74F8-407F69B249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14945" y="1262740"/>
            <a:ext cx="5545201" cy="4506685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Clr>
                <a:srgbClr val="C40D1E"/>
              </a:buClr>
              <a:buSzPct val="100000"/>
              <a:buFont typeface="Wingdings" panose="05000000000000000000" pitchFamily="2" charset="2"/>
              <a:buChar char="§"/>
              <a:defRPr sz="2000" b="1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420617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799" y="1268963"/>
            <a:ext cx="11075143" cy="4506685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Clr>
                <a:srgbClr val="C40D1E"/>
              </a:buClr>
              <a:buSzPct val="100000"/>
              <a:buFont typeface="Wingdings" panose="05000000000000000000" pitchFamily="2" charset="2"/>
              <a:buChar char="§"/>
              <a:defRPr sz="2000" b="1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 b="1">
                <a:solidFill>
                  <a:srgbClr val="C40D1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Headline</a:t>
            </a:r>
            <a:br>
              <a:rPr lang="en-US" noProof="0" dirty="0"/>
            </a:br>
            <a:r>
              <a:rPr lang="en-US" noProof="0" dirty="0"/>
              <a:t>optionally 2 lines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494F037-B453-E6C3-6931-1688CF9B95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2582402"/>
            <a:ext cx="8311908" cy="71743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700"/>
              </a:lnSpc>
              <a:spcBef>
                <a:spcPts val="0"/>
              </a:spcBef>
              <a:buNone/>
              <a:defRPr sz="3700" b="1">
                <a:solidFill>
                  <a:srgbClr val="C40D1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Headline</a:t>
            </a:r>
            <a:br>
              <a:rPr lang="en-US" noProof="0" dirty="0"/>
            </a:br>
            <a:r>
              <a:rPr lang="en-US" noProof="0" dirty="0"/>
              <a:t>optionally 2 lines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A837A2E9-5AA7-3D02-1A49-6988BEC5B8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1510" y="4180427"/>
            <a:ext cx="8311908" cy="71743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Headline</a:t>
            </a:r>
            <a:br>
              <a:rPr lang="en-US" noProof="0" dirty="0"/>
            </a:br>
            <a:r>
              <a:rPr lang="en-US" noProof="0" dirty="0"/>
              <a:t>optionally 2 lines</a:t>
            </a:r>
          </a:p>
        </p:txBody>
      </p:sp>
    </p:spTree>
    <p:extLst>
      <p:ext uri="{BB962C8B-B14F-4D97-AF65-F5344CB8AC3E}">
        <p14:creationId xmlns:p14="http://schemas.microsoft.com/office/powerpoint/2010/main" val="361949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gradFill>
            <a:gsLst>
              <a:gs pos="0">
                <a:srgbClr val="FF6C00"/>
              </a:gs>
              <a:gs pos="100000">
                <a:srgbClr val="C40D1E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196393" y="6393866"/>
            <a:ext cx="761531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noProof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Patrick Damme | FG DAMS | LDE </a:t>
            </a:r>
            <a:r>
              <a:rPr lang="en-US" sz="1400" b="0" noProof="0" dirty="0" err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WiSe</a:t>
            </a:r>
            <a:r>
              <a:rPr lang="en-US" sz="1400" b="0" noProof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2024/25 – List of Seminar Topics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F44FBF-6529-4A53-F1BA-D10222FCFDB0}"/>
              </a:ext>
            </a:extLst>
          </p:cNvPr>
          <p:cNvGrpSpPr/>
          <p:nvPr userDrawn="1"/>
        </p:nvGrpSpPr>
        <p:grpSpPr>
          <a:xfrm>
            <a:off x="9433249" y="6055568"/>
            <a:ext cx="2258008" cy="569167"/>
            <a:chOff x="9433249" y="6055568"/>
            <a:chExt cx="2258008" cy="56916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132AE6E-5DB2-25F8-161D-6A04BD40CA8C}"/>
                </a:ext>
              </a:extLst>
            </p:cNvPr>
            <p:cNvSpPr/>
            <p:nvPr userDrawn="1"/>
          </p:nvSpPr>
          <p:spPr>
            <a:xfrm>
              <a:off x="9433249" y="6055568"/>
              <a:ext cx="2258008" cy="569167"/>
            </a:xfrm>
            <a:prstGeom prst="roundRect">
              <a:avLst>
                <a:gd name="adj" fmla="val 2486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17F1DB4-F8F6-5B0E-9657-BBA11B1CD3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90187" y="6124808"/>
              <a:ext cx="2124769" cy="426320"/>
            </a:xfrm>
            <a:prstGeom prst="rect">
              <a:avLst/>
            </a:prstGeom>
          </p:spPr>
        </p:pic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FEDE8D1-082D-9900-BD99-D84E6B3FBCD0}"/>
              </a:ext>
            </a:extLst>
          </p:cNvPr>
          <p:cNvSpPr/>
          <p:nvPr userDrawn="1"/>
        </p:nvSpPr>
        <p:spPr>
          <a:xfrm>
            <a:off x="559027" y="6393872"/>
            <a:ext cx="391886" cy="217302"/>
          </a:xfrm>
          <a:prstGeom prst="roundRect">
            <a:avLst>
              <a:gd name="adj" fmla="val 294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675EF3AE-78B3-9641-A88A-C3B5FFA9245E}" type="slidenum">
              <a:rPr lang="de-DE" sz="1400" b="1" smtClean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pPr algn="ctr"/>
              <a:t>‹Nr.›</a:t>
            </a:fld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07" r:id="rId2"/>
    <p:sldLayoutId id="214748371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ldb.org/pvldb/vol10/p1022-muehleisen.pdf" TargetMode="External"/><Relationship Id="rId7" Type="http://schemas.openxmlformats.org/officeDocument/2006/relationships/hyperlink" Target="https://vldb.org/pvldb/vol15/p1119-sichert.pdf" TargetMode="External"/><Relationship Id="rId2" Type="http://schemas.openxmlformats.org/officeDocument/2006/relationships/hyperlink" Target="https://dl.acm.org/doi/abs/10.1145/2723372.274278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abs/10.1145/2791347.2791379" TargetMode="External"/><Relationship Id="rId5" Type="http://schemas.openxmlformats.org/officeDocument/2006/relationships/hyperlink" Target="https://dl.acm.org/doi/abs/10.1145/2213836.2213874" TargetMode="External"/><Relationship Id="rId4" Type="http://schemas.openxmlformats.org/officeDocument/2006/relationships/hyperlink" Target="https://www.vldb.org/pvldb/vol15/p2994-wang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3035918.3035937" TargetMode="External"/><Relationship Id="rId7" Type="http://schemas.openxmlformats.org/officeDocument/2006/relationships/hyperlink" Target="https://ieeexplore.ieee.org/abstract/document/10107490" TargetMode="External"/><Relationship Id="rId2" Type="http://schemas.openxmlformats.org/officeDocument/2006/relationships/hyperlink" Target="https://www.vldb.org/pvldb/vol5/p1700_joehellerstein_vldb2012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ceedings.mlr.press/v202/tang23a/tang23a.pdf" TargetMode="External"/><Relationship Id="rId5" Type="http://schemas.openxmlformats.org/officeDocument/2006/relationships/hyperlink" Target="https://dl.acm.org/doi/abs/10.1145/3448016.3457317" TargetMode="External"/><Relationship Id="rId4" Type="http://schemas.openxmlformats.org/officeDocument/2006/relationships/hyperlink" Target="https://dl.acm.org/doi/abs/10.1145/3468791.346884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2882903.2882939" TargetMode="External"/><Relationship Id="rId2" Type="http://schemas.openxmlformats.org/officeDocument/2006/relationships/hyperlink" Target="https://dl.acm.org/doi/abs/10.1145/2723372.272371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l.acm.org/doi/abs/10.1145/3299869.3324961" TargetMode="External"/><Relationship Id="rId4" Type="http://schemas.openxmlformats.org/officeDocument/2006/relationships/hyperlink" Target="https://vldb.org/pvldb/vol10/p1214-chen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ldb.org/pvldb/vol10/p2061-kunft.pdf" TargetMode="External"/><Relationship Id="rId7" Type="http://schemas.openxmlformats.org/officeDocument/2006/relationships/hyperlink" Target="https://www.vldb.org/pvldb/vol15/p2389-jungmair.pdf" TargetMode="External"/><Relationship Id="rId2" Type="http://schemas.openxmlformats.org/officeDocument/2006/relationships/hyperlink" Target="https://dl.acm.org/doi/abs/10.1145/2618243.261825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abs/10.1145/3318464.3380575" TargetMode="External"/><Relationship Id="rId5" Type="http://schemas.openxmlformats.org/officeDocument/2006/relationships/hyperlink" Target="https://vldb.org/pvldb/vol12/p1553-kunft.pdf" TargetMode="External"/><Relationship Id="rId4" Type="http://schemas.openxmlformats.org/officeDocument/2006/relationships/hyperlink" Target="https://ieeexplore.ieee.org/abstract/document/8509269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3514221.3517869" TargetMode="External"/><Relationship Id="rId2" Type="http://schemas.openxmlformats.org/officeDocument/2006/relationships/hyperlink" Target="https://www.vldb.org/pvldb/vol15/p2811-he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proceedings.org/2023/conf/edbt/paper-7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8EF9A-3A47-F1D2-052E-D714DA5FE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List of Seminar Topics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A647C22-6C15-BD48-5E94-7E41771DBD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Last update: Oct 14, 2024</a:t>
            </a:r>
          </a:p>
        </p:txBody>
      </p:sp>
    </p:spTree>
    <p:extLst>
      <p:ext uri="{BB962C8B-B14F-4D97-AF65-F5344CB8AC3E}">
        <p14:creationId xmlns:p14="http://schemas.microsoft.com/office/powerpoint/2010/main" val="2344923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61B38A5-8336-1013-A1D4-26C4101DF8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Papers in the fields of </a:t>
            </a:r>
            <a:r>
              <a:rPr lang="en-US" dirty="0">
                <a:solidFill>
                  <a:srgbClr val="C40D1E"/>
                </a:solidFill>
              </a:rPr>
              <a:t>systems</a:t>
            </a:r>
            <a:r>
              <a:rPr lang="en-US" dirty="0"/>
              <a:t> for </a:t>
            </a:r>
            <a:r>
              <a:rPr lang="en-US" dirty="0">
                <a:solidFill>
                  <a:srgbClr val="7889FB"/>
                </a:solidFill>
              </a:rPr>
              <a:t>data engineering</a:t>
            </a:r>
            <a:r>
              <a:rPr lang="en-US" dirty="0"/>
              <a:t>, </a:t>
            </a:r>
            <a:r>
              <a:rPr lang="en-US" dirty="0">
                <a:solidFill>
                  <a:srgbClr val="7889FB"/>
                </a:solidFill>
              </a:rPr>
              <a:t>data management</a:t>
            </a:r>
            <a:r>
              <a:rPr lang="en-US" dirty="0"/>
              <a:t>, and </a:t>
            </a:r>
            <a:r>
              <a:rPr lang="en-US" dirty="0">
                <a:solidFill>
                  <a:srgbClr val="7889FB"/>
                </a:solidFill>
              </a:rPr>
              <a:t>machine learning</a:t>
            </a:r>
          </a:p>
          <a:p>
            <a:endParaRPr lang="en-US" dirty="0"/>
          </a:p>
          <a:p>
            <a:r>
              <a:rPr lang="en-US" dirty="0"/>
              <a:t>This Semester’s </a:t>
            </a:r>
            <a:r>
              <a:rPr lang="en-US" dirty="0">
                <a:solidFill>
                  <a:srgbClr val="7889FB"/>
                </a:solidFill>
              </a:rPr>
              <a:t>Umbrella Topic</a:t>
            </a:r>
            <a:r>
              <a:rPr lang="en-US" dirty="0"/>
              <a:t>: </a:t>
            </a:r>
            <a:r>
              <a:rPr lang="en-US" dirty="0">
                <a:solidFill>
                  <a:schemeClr val="accent1"/>
                </a:solidFill>
              </a:rPr>
              <a:t>“Efficiently Combining DB and ML Workloads”</a:t>
            </a:r>
          </a:p>
          <a:p>
            <a:pPr lvl="1"/>
            <a:r>
              <a:rPr lang="en-US" b="1" dirty="0"/>
              <a:t>Motivation</a:t>
            </a:r>
          </a:p>
          <a:p>
            <a:pPr lvl="2"/>
            <a:r>
              <a:rPr lang="en-US" dirty="0"/>
              <a:t>Database </a:t>
            </a:r>
            <a:r>
              <a:rPr lang="en-US" b="1" dirty="0">
                <a:solidFill>
                  <a:srgbClr val="7889FB"/>
                </a:solidFill>
              </a:rPr>
              <a:t>query processing</a:t>
            </a:r>
            <a:r>
              <a:rPr lang="en-US" dirty="0"/>
              <a:t> and </a:t>
            </a:r>
            <a:r>
              <a:rPr lang="en-US" b="1" dirty="0">
                <a:solidFill>
                  <a:srgbClr val="7889FB"/>
                </a:solidFill>
              </a:rPr>
              <a:t>ML training and scoring </a:t>
            </a:r>
            <a:r>
              <a:rPr lang="en-US" dirty="0"/>
              <a:t>normally executed in </a:t>
            </a:r>
            <a:r>
              <a:rPr lang="en-US" b="1" dirty="0">
                <a:solidFill>
                  <a:srgbClr val="7889FB"/>
                </a:solidFill>
              </a:rPr>
              <a:t>dedicated systems</a:t>
            </a:r>
            <a:endParaRPr lang="en-US" dirty="0"/>
          </a:p>
          <a:p>
            <a:pPr lvl="2"/>
            <a:r>
              <a:rPr lang="en-US" dirty="0"/>
              <a:t>But: Trend towards </a:t>
            </a:r>
            <a:r>
              <a:rPr lang="en-US" b="1" dirty="0">
                <a:solidFill>
                  <a:srgbClr val="7889FB"/>
                </a:solidFill>
              </a:rPr>
              <a:t>integrated data analysis pipelines </a:t>
            </a:r>
            <a:r>
              <a:rPr lang="en-US" dirty="0"/>
              <a:t>involving both query processing and ML</a:t>
            </a:r>
          </a:p>
          <a:p>
            <a:pPr lvl="2"/>
            <a:r>
              <a:rPr lang="en-US" dirty="0"/>
              <a:t>Orchestrations of existing DB and ML systems yields </a:t>
            </a:r>
            <a:r>
              <a:rPr lang="en-US" b="1" dirty="0">
                <a:solidFill>
                  <a:schemeClr val="accent1"/>
                </a:solidFill>
              </a:rPr>
              <a:t>inefficiencies</a:t>
            </a:r>
            <a:r>
              <a:rPr lang="en-US" dirty="0"/>
              <a:t> due to expensive data transfer and missed global optimization potential</a:t>
            </a:r>
          </a:p>
          <a:p>
            <a:pPr lvl="1"/>
            <a:r>
              <a:rPr lang="en-US" b="1" dirty="0"/>
              <a:t>Ideas to address these challenges</a:t>
            </a:r>
          </a:p>
          <a:p>
            <a:pPr lvl="2"/>
            <a:r>
              <a:rPr lang="en-US" b="1" dirty="0">
                <a:solidFill>
                  <a:srgbClr val="7889FB"/>
                </a:solidFill>
              </a:rPr>
              <a:t>Improve the data transfer </a:t>
            </a:r>
            <a:r>
              <a:rPr lang="en-US" dirty="0"/>
              <a:t>between DB and ML systems</a:t>
            </a:r>
          </a:p>
          <a:p>
            <a:pPr lvl="2"/>
            <a:r>
              <a:rPr lang="en-US" dirty="0"/>
              <a:t>Run </a:t>
            </a:r>
            <a:r>
              <a:rPr lang="en-US" b="1" dirty="0">
                <a:solidFill>
                  <a:srgbClr val="7889FB"/>
                </a:solidFill>
              </a:rPr>
              <a:t>one kind of workload on existing software/hardware designed for the other kind of workload</a:t>
            </a:r>
          </a:p>
          <a:p>
            <a:pPr lvl="2"/>
            <a:r>
              <a:rPr lang="en-US" dirty="0"/>
              <a:t>Entirely </a:t>
            </a:r>
            <a:r>
              <a:rPr lang="en-US" b="1" dirty="0">
                <a:solidFill>
                  <a:srgbClr val="7889FB"/>
                </a:solidFill>
              </a:rPr>
              <a:t>new systems supporting both</a:t>
            </a:r>
            <a:r>
              <a:rPr lang="en-US" dirty="0"/>
              <a:t> query processing and ML at the same time</a:t>
            </a:r>
          </a:p>
          <a:p>
            <a:pPr lvl="1"/>
            <a:r>
              <a:rPr lang="en-US" dirty="0"/>
              <a:t>Affects </a:t>
            </a:r>
            <a:r>
              <a:rPr lang="en-US" b="1" dirty="0">
                <a:solidFill>
                  <a:schemeClr val="accent1"/>
                </a:solidFill>
              </a:rPr>
              <a:t>all levels of the system stack</a:t>
            </a:r>
            <a:r>
              <a:rPr lang="en-US" dirty="0"/>
              <a:t>, from query languages over optimization and compilation techniques as well as local/distributed runtime techniques to the use of multi-core CPUs and hardware accelerators.</a:t>
            </a:r>
          </a:p>
          <a:p>
            <a:pPr lvl="2"/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32ED82-EF00-5103-D735-64F201362E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Seminar Umbrella Topic</a:t>
            </a:r>
          </a:p>
        </p:txBody>
      </p:sp>
    </p:spTree>
    <p:extLst>
      <p:ext uri="{BB962C8B-B14F-4D97-AF65-F5344CB8AC3E}">
        <p14:creationId xmlns:p14="http://schemas.microsoft.com/office/powerpoint/2010/main" val="419822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628B02B-76D2-E41E-0ABF-462A67E1ED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Efficient Data Transfer</a:t>
            </a:r>
          </a:p>
          <a:p>
            <a:pPr marL="800100" lvl="1" indent="-342900">
              <a:buFont typeface="+mj-lt"/>
              <a:buAutoNum type="arabicParenR"/>
            </a:pPr>
            <a:r>
              <a:rPr lang="nl-NL" dirty="0"/>
              <a:t>Prasad et al.: </a:t>
            </a:r>
            <a:r>
              <a:rPr lang="en-US" b="1" dirty="0"/>
              <a:t>Large-scale Predictive Analytics in Vertica: Fast Data Transfer, Distributed Model Creation, and In-database Prediction </a:t>
            </a:r>
            <a:r>
              <a:rPr lang="en-US" dirty="0"/>
              <a:t>(SIGMOD, 2015) [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]</a:t>
            </a:r>
            <a:endParaRPr lang="nl-NL" dirty="0"/>
          </a:p>
          <a:p>
            <a:pPr marL="800100" lvl="1" indent="-342900">
              <a:buFont typeface="+mj-lt"/>
              <a:buAutoNum type="arabicParenR"/>
            </a:pPr>
            <a:r>
              <a:rPr lang="nl-NL" dirty="0"/>
              <a:t>Raasveldt et al.</a:t>
            </a:r>
            <a:r>
              <a:rPr lang="nl-NL" b="0" i="0" u="none" dirty="0">
                <a:effectLst/>
              </a:rPr>
              <a:t>:</a:t>
            </a:r>
            <a:r>
              <a:rPr lang="nl-NL" dirty="0"/>
              <a:t> </a:t>
            </a:r>
            <a:r>
              <a:rPr lang="en-US" b="1" dirty="0"/>
              <a:t>Don't Hold My Data Hostage – A Case For Client Protocol Redesign </a:t>
            </a:r>
            <a:r>
              <a:rPr lang="en-US" dirty="0"/>
              <a:t>(PVLDB, 2017) [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/>
              <a:t>Wang et al.: </a:t>
            </a:r>
            <a:r>
              <a:rPr lang="en-US" b="1" dirty="0" err="1"/>
              <a:t>ConnectorX</a:t>
            </a:r>
            <a:r>
              <a:rPr lang="en-US" b="1" dirty="0"/>
              <a:t>: Accelerating Data Loading From Databases to </a:t>
            </a:r>
            <a:r>
              <a:rPr lang="en-US" b="1" dirty="0" err="1"/>
              <a:t>Dataframes</a:t>
            </a:r>
            <a:r>
              <a:rPr lang="en-US" b="1" dirty="0"/>
              <a:t> </a:t>
            </a:r>
            <a:r>
              <a:rPr lang="en-US" dirty="0"/>
              <a:t>(PVLDB, 2022) [</a:t>
            </a:r>
            <a:r>
              <a:rPr lang="en-US" dirty="0">
                <a:hlinkClick r:id="rId4"/>
              </a:rPr>
              <a:t>link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ML Through DBMS Extensibility</a:t>
            </a:r>
          </a:p>
          <a:p>
            <a:pPr marL="800100" lvl="1" indent="-342900">
              <a:buFont typeface="+mj-lt"/>
              <a:buAutoNum type="arabicParenR" startAt="4"/>
            </a:pPr>
            <a:r>
              <a:rPr lang="en-US" dirty="0"/>
              <a:t>Feng et al.: </a:t>
            </a:r>
            <a:r>
              <a:rPr lang="en-US" b="1" dirty="0"/>
              <a:t>Towards a Unified Architecture for In-RDBMS Analytics </a:t>
            </a:r>
            <a:r>
              <a:rPr lang="en-US" dirty="0"/>
              <a:t>(SIGMOD, 2012) [</a:t>
            </a:r>
            <a:r>
              <a:rPr lang="en-US" dirty="0">
                <a:hlinkClick r:id="rId5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4"/>
            </a:pPr>
            <a:r>
              <a:rPr lang="en-US" dirty="0"/>
              <a:t>Wolf et al.: </a:t>
            </a:r>
            <a:r>
              <a:rPr lang="en-US" b="1" dirty="0"/>
              <a:t>Extending Database Task Schedulers for Multi-threaded Application Code </a:t>
            </a:r>
            <a:r>
              <a:rPr lang="en-US" dirty="0"/>
              <a:t>(SSDBM, 2015) [</a:t>
            </a:r>
            <a:r>
              <a:rPr lang="en-US" dirty="0">
                <a:hlinkClick r:id="rId6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4"/>
            </a:pPr>
            <a:r>
              <a:rPr lang="en-US" dirty="0" err="1"/>
              <a:t>Sichert</a:t>
            </a:r>
            <a:r>
              <a:rPr lang="en-US" dirty="0"/>
              <a:t> et al.: </a:t>
            </a:r>
            <a:r>
              <a:rPr lang="en-US" b="1" dirty="0"/>
              <a:t>User-Defined Operators: Efficiently Integrating Custom Algorithms into Modern Databases </a:t>
            </a:r>
            <a:r>
              <a:rPr lang="en-US" dirty="0"/>
              <a:t>(PVLDB, 2022) [</a:t>
            </a:r>
            <a:r>
              <a:rPr lang="en-US" dirty="0">
                <a:hlinkClick r:id="rId7"/>
              </a:rPr>
              <a:t>link</a:t>
            </a:r>
            <a:r>
              <a:rPr lang="en-US" dirty="0"/>
              <a:t>]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2FFA2B-9B7A-98E6-741E-AB736CD59B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Seminar Topics (1/5)</a:t>
            </a:r>
          </a:p>
        </p:txBody>
      </p:sp>
    </p:spTree>
    <p:extLst>
      <p:ext uri="{BB962C8B-B14F-4D97-AF65-F5344CB8AC3E}">
        <p14:creationId xmlns:p14="http://schemas.microsoft.com/office/powerpoint/2010/main" val="550851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628B02B-76D2-E41E-0ABF-462A67E1ED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799" y="1268963"/>
            <a:ext cx="11610721" cy="4506685"/>
          </a:xfrm>
        </p:spPr>
        <p:txBody>
          <a:bodyPr/>
          <a:lstStyle/>
          <a:p>
            <a:r>
              <a:rPr lang="en-US" dirty="0"/>
              <a:t>ML expressed in SQL</a:t>
            </a:r>
          </a:p>
          <a:p>
            <a:pPr marL="800100" lvl="1" indent="-342900">
              <a:buFont typeface="+mj-lt"/>
              <a:buAutoNum type="arabicParenR" startAt="7"/>
            </a:pPr>
            <a:r>
              <a:rPr lang="en-US" dirty="0"/>
              <a:t>Hellerstein et al.: </a:t>
            </a:r>
            <a:r>
              <a:rPr lang="en-US" b="1" dirty="0"/>
              <a:t>The </a:t>
            </a:r>
            <a:r>
              <a:rPr lang="en-US" b="1" dirty="0" err="1"/>
              <a:t>MADlib</a:t>
            </a:r>
            <a:r>
              <a:rPr lang="en-US" b="1" dirty="0"/>
              <a:t> Analytics Library or MAD Skills, the SQL </a:t>
            </a:r>
            <a:r>
              <a:rPr lang="en-US" dirty="0"/>
              <a:t>(PVLDB, 2012) [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7"/>
            </a:pPr>
            <a:r>
              <a:rPr lang="en-US" dirty="0"/>
              <a:t>Luo et al.: </a:t>
            </a:r>
            <a:r>
              <a:rPr lang="en-US" b="1" dirty="0"/>
              <a:t>Scalable Linear Algebra on a Relational Database System </a:t>
            </a:r>
            <a:r>
              <a:rPr lang="en-US" dirty="0"/>
              <a:t>(ICDE, 2017) [link]</a:t>
            </a:r>
          </a:p>
          <a:p>
            <a:pPr marL="800100" lvl="1" indent="-342900">
              <a:buFont typeface="+mj-lt"/>
              <a:buAutoNum type="arabicParenR" startAt="7"/>
            </a:pPr>
            <a:r>
              <a:rPr lang="en-US" dirty="0"/>
              <a:t>Gao et al.: </a:t>
            </a:r>
            <a:r>
              <a:rPr lang="en-US" b="1" dirty="0"/>
              <a:t>The BUDS Language for Distributed Bayesian Machine Learning </a:t>
            </a:r>
            <a:r>
              <a:rPr lang="en-US" dirty="0"/>
              <a:t>(SIGMOD, 2017) [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7"/>
            </a:pPr>
            <a:r>
              <a:rPr lang="en-US" dirty="0" err="1"/>
              <a:t>Schüle</a:t>
            </a:r>
            <a:r>
              <a:rPr lang="en-US" dirty="0"/>
              <a:t> et al.: </a:t>
            </a:r>
            <a:r>
              <a:rPr lang="en-US" b="1" dirty="0"/>
              <a:t>In-Database Machine Learning with SQL on GPUs </a:t>
            </a:r>
            <a:r>
              <a:rPr lang="en-US" dirty="0"/>
              <a:t>(SIGMOD, 2021) [</a:t>
            </a:r>
            <a:r>
              <a:rPr lang="en-US" dirty="0">
                <a:hlinkClick r:id="rId4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7"/>
            </a:pPr>
            <a:r>
              <a:rPr lang="en-US" dirty="0"/>
              <a:t>Luo et al.: </a:t>
            </a:r>
            <a:r>
              <a:rPr lang="en-US" b="1" dirty="0"/>
              <a:t>Automatic Optimization of Matrix Implementations for Distributed Machine Learning and</a:t>
            </a:r>
            <a:br>
              <a:rPr lang="en-US" b="1" dirty="0"/>
            </a:br>
            <a:r>
              <a:rPr lang="en-US" b="1" dirty="0"/>
              <a:t>Linear Algebra </a:t>
            </a:r>
            <a:r>
              <a:rPr lang="en-US" dirty="0"/>
              <a:t>(SIGMOD, 2021) [</a:t>
            </a:r>
            <a:r>
              <a:rPr lang="en-US" dirty="0">
                <a:hlinkClick r:id="rId5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7"/>
            </a:pPr>
            <a:r>
              <a:rPr lang="en-US" dirty="0"/>
              <a:t>Tang et al.: </a:t>
            </a:r>
            <a:r>
              <a:rPr lang="en-US" b="1" dirty="0"/>
              <a:t>Auto-Differentiation of Relational Computations for Very Large Scale Machine Learning</a:t>
            </a:r>
            <a:br>
              <a:rPr lang="en-US" b="1" dirty="0"/>
            </a:br>
            <a:r>
              <a:rPr lang="en-US" dirty="0"/>
              <a:t>(ICML, 2023) [</a:t>
            </a:r>
            <a:r>
              <a:rPr lang="en-US" dirty="0">
                <a:hlinkClick r:id="rId6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7"/>
            </a:pPr>
            <a:r>
              <a:rPr lang="en-US" dirty="0" err="1"/>
              <a:t>Paganelli</a:t>
            </a:r>
            <a:r>
              <a:rPr lang="en-US" dirty="0"/>
              <a:t> et al: </a:t>
            </a:r>
            <a:r>
              <a:rPr lang="en-US" b="1" dirty="0"/>
              <a:t>Pushing ML Predictions into DBMSs</a:t>
            </a:r>
            <a:r>
              <a:rPr lang="en-US" dirty="0"/>
              <a:t> (IEEE Trans. Know. Data Eng.) [</a:t>
            </a:r>
            <a:r>
              <a:rPr lang="en-US" dirty="0">
                <a:hlinkClick r:id="rId7"/>
              </a:rPr>
              <a:t>link</a:t>
            </a:r>
            <a:r>
              <a:rPr lang="en-US" dirty="0"/>
              <a:t>]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2FFA2B-9B7A-98E6-741E-AB736CD59B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Seminar Topics (2/5)</a:t>
            </a:r>
          </a:p>
        </p:txBody>
      </p:sp>
    </p:spTree>
    <p:extLst>
      <p:ext uri="{BB962C8B-B14F-4D97-AF65-F5344CB8AC3E}">
        <p14:creationId xmlns:p14="http://schemas.microsoft.com/office/powerpoint/2010/main" val="19188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628B02B-76D2-E41E-0ABF-462A67E1ED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799" y="1268963"/>
            <a:ext cx="11610721" cy="4506685"/>
          </a:xfrm>
        </p:spPr>
        <p:txBody>
          <a:bodyPr/>
          <a:lstStyle/>
          <a:p>
            <a:r>
              <a:rPr lang="en-US" dirty="0"/>
              <a:t>Learning Over Joins</a:t>
            </a:r>
          </a:p>
          <a:p>
            <a:pPr marL="800100" lvl="1" indent="-342900">
              <a:buFont typeface="+mj-lt"/>
              <a:buAutoNum type="arabicParenR" startAt="14"/>
            </a:pPr>
            <a:r>
              <a:rPr lang="en-US" dirty="0"/>
              <a:t>Kumar et al.: </a:t>
            </a:r>
            <a:r>
              <a:rPr lang="en-US" b="1" dirty="0"/>
              <a:t>Learning Generalized Linear Models Over Normalized Data</a:t>
            </a:r>
            <a:r>
              <a:rPr lang="en-US" dirty="0"/>
              <a:t> (SIGMOD, 2015) [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14"/>
            </a:pPr>
            <a:r>
              <a:rPr lang="en-US" dirty="0" err="1"/>
              <a:t>Schleich</a:t>
            </a:r>
            <a:r>
              <a:rPr lang="en-US" dirty="0"/>
              <a:t> et al.: </a:t>
            </a:r>
            <a:r>
              <a:rPr lang="en-US" b="1" dirty="0"/>
              <a:t>Learning Linear Regression Models over Factorized Joins</a:t>
            </a:r>
            <a:r>
              <a:rPr lang="en-US" dirty="0"/>
              <a:t> (SIGMOD, 2016) [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14"/>
            </a:pPr>
            <a:r>
              <a:rPr lang="en-US" dirty="0"/>
              <a:t>Chen et al.: </a:t>
            </a:r>
            <a:r>
              <a:rPr lang="en-US" b="1" dirty="0"/>
              <a:t>Towards Linear Algebra over Normalized Data </a:t>
            </a:r>
            <a:r>
              <a:rPr lang="en-US" dirty="0"/>
              <a:t>(PVLDB, 2017) [</a:t>
            </a:r>
            <a:r>
              <a:rPr lang="en-US" dirty="0">
                <a:hlinkClick r:id="rId4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14"/>
            </a:pPr>
            <a:r>
              <a:rPr lang="en-US" dirty="0" err="1"/>
              <a:t>Schleich</a:t>
            </a:r>
            <a:r>
              <a:rPr lang="en-US" dirty="0"/>
              <a:t> et al.: </a:t>
            </a:r>
            <a:r>
              <a:rPr lang="en-US" b="1" dirty="0"/>
              <a:t>A Layered Aggregate Engine for Analytics Workloads </a:t>
            </a:r>
            <a:r>
              <a:rPr lang="en-US" dirty="0"/>
              <a:t>(SIGMOD, 2019) [</a:t>
            </a:r>
            <a:r>
              <a:rPr lang="en-US" dirty="0">
                <a:hlinkClick r:id="rId5"/>
              </a:rPr>
              <a:t>link</a:t>
            </a:r>
            <a:r>
              <a:rPr lang="en-US" dirty="0"/>
              <a:t>]</a:t>
            </a:r>
          </a:p>
          <a:p>
            <a:pPr lvl="1"/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2FFA2B-9B7A-98E6-741E-AB736CD59B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Seminar Topics (3/5)</a:t>
            </a:r>
          </a:p>
        </p:txBody>
      </p:sp>
    </p:spTree>
    <p:extLst>
      <p:ext uri="{BB962C8B-B14F-4D97-AF65-F5344CB8AC3E}">
        <p14:creationId xmlns:p14="http://schemas.microsoft.com/office/powerpoint/2010/main" val="3200497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628B02B-76D2-E41E-0ABF-462A67E1ED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Hybrid DB+ML Systems</a:t>
            </a:r>
          </a:p>
          <a:p>
            <a:pPr marL="800100" lvl="1" indent="-342900">
              <a:buFont typeface="+mj-lt"/>
              <a:buAutoNum type="arabicParenR" startAt="18"/>
            </a:pPr>
            <a:r>
              <a:rPr lang="en-US" dirty="0" err="1"/>
              <a:t>Kernert</a:t>
            </a:r>
            <a:r>
              <a:rPr lang="en-US" dirty="0"/>
              <a:t> et al.: </a:t>
            </a:r>
            <a:r>
              <a:rPr lang="en-US" b="1" dirty="0"/>
              <a:t>SLACID - Sparse Linear Algebra in a Column-Oriented In-Memory Database System</a:t>
            </a:r>
            <a:br>
              <a:rPr lang="en-US" b="1" dirty="0"/>
            </a:br>
            <a:r>
              <a:rPr lang="en-US" dirty="0"/>
              <a:t>(SSDBM, 2014) [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18"/>
            </a:pPr>
            <a:r>
              <a:rPr lang="en-US" dirty="0" err="1"/>
              <a:t>Kunft</a:t>
            </a:r>
            <a:r>
              <a:rPr lang="en-US" dirty="0"/>
              <a:t> et al.: </a:t>
            </a:r>
            <a:r>
              <a:rPr lang="en-US" b="1" dirty="0" err="1"/>
              <a:t>BlockJoin</a:t>
            </a:r>
            <a:r>
              <a:rPr lang="en-US" b="1" dirty="0"/>
              <a:t>: Efficient Matrix Partitioning Through Joins</a:t>
            </a:r>
            <a:r>
              <a:rPr lang="en-US" dirty="0"/>
              <a:t> (PVLDB, 2017) [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18"/>
            </a:pPr>
            <a:r>
              <a:rPr lang="en-US" dirty="0" err="1"/>
              <a:t>Aberger</a:t>
            </a:r>
            <a:r>
              <a:rPr lang="en-US" dirty="0"/>
              <a:t> et al.: </a:t>
            </a:r>
            <a:r>
              <a:rPr lang="en-US" b="1" dirty="0" err="1"/>
              <a:t>LevelHeaded</a:t>
            </a:r>
            <a:r>
              <a:rPr lang="en-US" b="1" dirty="0"/>
              <a:t>: A Unified Engine for Business Intelligence and Linear Algebra Querying</a:t>
            </a:r>
            <a:br>
              <a:rPr lang="en-US" b="1" dirty="0"/>
            </a:br>
            <a:r>
              <a:rPr lang="en-US" dirty="0"/>
              <a:t>(ICDE, 2018) [</a:t>
            </a:r>
            <a:r>
              <a:rPr lang="en-US" dirty="0">
                <a:hlinkClick r:id="rId4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18"/>
            </a:pPr>
            <a:r>
              <a:rPr lang="en-US" dirty="0" err="1"/>
              <a:t>Kunft</a:t>
            </a:r>
            <a:r>
              <a:rPr lang="en-US" dirty="0"/>
              <a:t> et al.: </a:t>
            </a:r>
            <a:r>
              <a:rPr lang="en-US" b="1" dirty="0"/>
              <a:t>An Intermediate Representation for Optimizing Machine Learning Pipelines</a:t>
            </a:r>
            <a:r>
              <a:rPr lang="en-US" dirty="0"/>
              <a:t> (PVLDB, 2019) [</a:t>
            </a:r>
            <a:r>
              <a:rPr lang="en-US" dirty="0">
                <a:hlinkClick r:id="rId5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18"/>
            </a:pPr>
            <a:r>
              <a:rPr lang="en-US" dirty="0" err="1"/>
              <a:t>Jasny</a:t>
            </a:r>
            <a:r>
              <a:rPr lang="en-US" dirty="0"/>
              <a:t> et al.: </a:t>
            </a:r>
            <a:r>
              <a:rPr lang="en-US" b="1" dirty="0"/>
              <a:t>DB4ML - An In-memory Database Kernel with Machine Learning Support </a:t>
            </a:r>
            <a:r>
              <a:rPr lang="en-US" dirty="0"/>
              <a:t>(SIGMOD, 2020) [</a:t>
            </a:r>
            <a:r>
              <a:rPr lang="en-US" dirty="0">
                <a:hlinkClick r:id="rId6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18"/>
            </a:pPr>
            <a:r>
              <a:rPr lang="en-US" dirty="0" err="1"/>
              <a:t>Jungmair</a:t>
            </a:r>
            <a:r>
              <a:rPr lang="en-US" dirty="0"/>
              <a:t> et al.: </a:t>
            </a:r>
            <a:r>
              <a:rPr lang="en-US" b="1" dirty="0"/>
              <a:t>Designing an Open Framework for Query Optimization and Compilation </a:t>
            </a:r>
            <a:r>
              <a:rPr lang="en-US" dirty="0"/>
              <a:t>(PVLDB, 2022) [</a:t>
            </a:r>
            <a:r>
              <a:rPr lang="en-US" dirty="0">
                <a:hlinkClick r:id="rId7"/>
              </a:rPr>
              <a:t>link</a:t>
            </a:r>
            <a:r>
              <a:rPr lang="en-US" dirty="0"/>
              <a:t>]</a:t>
            </a:r>
          </a:p>
          <a:p>
            <a:pPr lvl="1"/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2FFA2B-9B7A-98E6-741E-AB736CD59B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Seminar Topics (4/5)</a:t>
            </a:r>
          </a:p>
        </p:txBody>
      </p:sp>
    </p:spTree>
    <p:extLst>
      <p:ext uri="{BB962C8B-B14F-4D97-AF65-F5344CB8AC3E}">
        <p14:creationId xmlns:p14="http://schemas.microsoft.com/office/powerpoint/2010/main" val="304263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628B02B-76D2-E41E-0ABF-462A67E1ED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Query Processing on Tensors</a:t>
            </a:r>
          </a:p>
          <a:p>
            <a:pPr marL="800100" lvl="1" indent="-342900">
              <a:buFont typeface="+mj-lt"/>
              <a:buAutoNum type="arabicParenR" startAt="24"/>
            </a:pPr>
            <a:r>
              <a:rPr lang="en-US" dirty="0"/>
              <a:t>He et al.: </a:t>
            </a:r>
            <a:r>
              <a:rPr lang="en-US" b="1" dirty="0"/>
              <a:t>Query Processing on Tensor Computation Runtimes </a:t>
            </a:r>
            <a:r>
              <a:rPr lang="en-US" dirty="0"/>
              <a:t>(PVLDB, 2022) [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]</a:t>
            </a:r>
          </a:p>
          <a:p>
            <a:pPr marL="800100" lvl="1" indent="-342900">
              <a:buFont typeface="+mj-lt"/>
              <a:buAutoNum type="arabicParenR" startAt="24"/>
            </a:pPr>
            <a:r>
              <a:rPr lang="en-US" dirty="0"/>
              <a:t>Hu et al.: </a:t>
            </a:r>
            <a:r>
              <a:rPr lang="en-US" b="1" dirty="0"/>
              <a:t>TCUDB: Accelerating Database with Tensor Processors </a:t>
            </a:r>
            <a:r>
              <a:rPr lang="en-US" dirty="0"/>
              <a:t>(SIGMOD, 2022) [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Various Approaches</a:t>
            </a:r>
          </a:p>
          <a:p>
            <a:pPr marL="800100" lvl="1" indent="-342900">
              <a:buFont typeface="+mj-lt"/>
              <a:buAutoNum type="arabicParenR" startAt="26"/>
            </a:pPr>
            <a:r>
              <a:rPr lang="en-US" dirty="0" err="1"/>
              <a:t>Kläbe</a:t>
            </a:r>
            <a:r>
              <a:rPr lang="en-US" dirty="0"/>
              <a:t> et al.: </a:t>
            </a:r>
            <a:r>
              <a:rPr lang="en-US" b="1" dirty="0"/>
              <a:t>Exploration of Approaches for In-database ML</a:t>
            </a:r>
            <a:r>
              <a:rPr lang="en-US" dirty="0"/>
              <a:t> (EDBT, 2023) [</a:t>
            </a:r>
            <a:r>
              <a:rPr lang="en-US" dirty="0">
                <a:hlinkClick r:id="rId4"/>
              </a:rPr>
              <a:t>link</a:t>
            </a:r>
            <a:r>
              <a:rPr lang="en-US" dirty="0"/>
              <a:t>]</a:t>
            </a:r>
          </a:p>
          <a:p>
            <a:pPr lvl="1"/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2FFA2B-9B7A-98E6-741E-AB736CD59B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Seminar Topics (5/5)</a:t>
            </a:r>
          </a:p>
        </p:txBody>
      </p:sp>
    </p:spTree>
    <p:extLst>
      <p:ext uri="{BB962C8B-B14F-4D97-AF65-F5344CB8AC3E}">
        <p14:creationId xmlns:p14="http://schemas.microsoft.com/office/powerpoint/2010/main" val="313875440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dirty="0" err="1" smtClean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9" id="{246E6033-15ED-8042-86E0-B76FF5BFC716}" vid="{7CAADE83-5F25-0A48-B83D-03A7471B880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TU-Berlin-Praesentation-Master-Verlauf-Orange-Rot</Template>
  <TotalTime>0</TotalTime>
  <Words>764</Words>
  <Application>Microsoft Office PowerPoint</Application>
  <PresentationFormat>Breitbild</PresentationFormat>
  <Paragraphs>55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Large-scale Data Engineering: List of Topics</dc:title>
  <dc:creator>Patrick Damme</dc:creator>
  <cp:lastModifiedBy>TU-Pseudonym 3624437813768008</cp:lastModifiedBy>
  <cp:revision>541</cp:revision>
  <cp:lastPrinted>2021-03-24T16:10:50Z</cp:lastPrinted>
  <dcterms:created xsi:type="dcterms:W3CDTF">2023-02-25T13:39:16Z</dcterms:created>
  <dcterms:modified xsi:type="dcterms:W3CDTF">2024-10-13T20:56:13Z</dcterms:modified>
</cp:coreProperties>
</file>