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10" r:id="rId1"/>
  </p:sldMasterIdLst>
  <p:notesMasterIdLst>
    <p:notesMasterId r:id="rId23"/>
  </p:notesMasterIdLst>
  <p:handoutMasterIdLst>
    <p:handoutMasterId r:id="rId24"/>
  </p:handoutMasterIdLst>
  <p:sldIdLst>
    <p:sldId id="416" r:id="rId2"/>
    <p:sldId id="441" r:id="rId3"/>
    <p:sldId id="472" r:id="rId4"/>
    <p:sldId id="494" r:id="rId5"/>
    <p:sldId id="496" r:id="rId6"/>
    <p:sldId id="469" r:id="rId7"/>
    <p:sldId id="484" r:id="rId8"/>
    <p:sldId id="485" r:id="rId9"/>
    <p:sldId id="495" r:id="rId10"/>
    <p:sldId id="471" r:id="rId11"/>
    <p:sldId id="489" r:id="rId12"/>
    <p:sldId id="490" r:id="rId13"/>
    <p:sldId id="491" r:id="rId14"/>
    <p:sldId id="451" r:id="rId15"/>
    <p:sldId id="459" r:id="rId16"/>
    <p:sldId id="493" r:id="rId17"/>
    <p:sldId id="454" r:id="rId18"/>
    <p:sldId id="442" r:id="rId19"/>
    <p:sldId id="473" r:id="rId20"/>
    <p:sldId id="487" r:id="rId21"/>
    <p:sldId id="450" r:id="rId2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89FB"/>
    <a:srgbClr val="000000"/>
    <a:srgbClr val="C40D1E"/>
    <a:srgbClr val="FF6C00"/>
    <a:srgbClr val="1F90CC"/>
    <a:srgbClr val="9013FE"/>
    <a:srgbClr val="434343"/>
    <a:srgbClr val="C40E02"/>
    <a:srgbClr val="FFFFFF"/>
    <a:srgbClr val="49CB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07" autoAdjust="0"/>
    <p:restoredTop sz="84321" autoAdjust="0"/>
  </p:normalViewPr>
  <p:slideViewPr>
    <p:cSldViewPr snapToGrid="0" snapToObjects="1">
      <p:cViewPr varScale="1">
        <p:scale>
          <a:sx n="113" d="100"/>
          <a:sy n="113" d="100"/>
        </p:scale>
        <p:origin x="564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-2880"/>
    </p:cViewPr>
  </p:sorterViewPr>
  <p:notesViewPr>
    <p:cSldViewPr snapToGrid="0" snapToObjects="1" showGuides="1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4C1EC73-A5A4-FC4B-76E5-51EDE9D6A0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5DF6EFC-D2E2-EEC2-6A53-1F8E5ED94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8C1941-959E-4F75-954C-6527CEA57F14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62DE34B-1D27-A949-78A8-910B6834B3B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1EA2275-79B6-2EEA-619C-D2857867DA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983AEA-CC2D-42A1-9F46-6A429B53581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0740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14.10.2024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799" y="1268963"/>
            <a:ext cx="5545201" cy="4506685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Clr>
                <a:srgbClr val="C40D1E"/>
              </a:buClr>
              <a:buSzPct val="100000"/>
              <a:buFont typeface="Wingdings" panose="05000000000000000000" pitchFamily="2" charset="2"/>
              <a:buChar char="§"/>
              <a:defRPr sz="2000" b="1">
                <a:solidFill>
                  <a:schemeClr val="tx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Level 1</a:t>
            </a:r>
          </a:p>
          <a:p>
            <a:pPr lvl="1"/>
            <a:r>
              <a:rPr lang="en-US" noProof="0" dirty="0"/>
              <a:t>Level 2</a:t>
            </a:r>
          </a:p>
          <a:p>
            <a:pPr lvl="2"/>
            <a:r>
              <a:rPr lang="en-US" noProof="0" dirty="0"/>
              <a:t>Level 3</a:t>
            </a:r>
          </a:p>
          <a:p>
            <a:pPr lvl="3"/>
            <a:r>
              <a:rPr lang="en-US" noProof="0" dirty="0"/>
              <a:t>Level 4</a:t>
            </a:r>
          </a:p>
          <a:p>
            <a:pPr lvl="4"/>
            <a:r>
              <a:rPr lang="en-US" noProof="0" dirty="0"/>
              <a:t>Level 5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 b="1">
                <a:solidFill>
                  <a:srgbClr val="C40D1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noProof="0" dirty="0"/>
              <a:t>Headline</a:t>
            </a:r>
            <a:br>
              <a:rPr lang="en-US" noProof="0" dirty="0"/>
            </a:br>
            <a:r>
              <a:rPr lang="en-US" noProof="0" dirty="0"/>
              <a:t>optionally 2 lines</a:t>
            </a:r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124D4CAA-133B-B88A-74F8-407F69B249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14945" y="1262740"/>
            <a:ext cx="5545201" cy="4506685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Clr>
                <a:srgbClr val="C40D1E"/>
              </a:buClr>
              <a:buSzPct val="100000"/>
              <a:buFont typeface="Wingdings" panose="05000000000000000000" pitchFamily="2" charset="2"/>
              <a:buChar char="§"/>
              <a:defRPr sz="2000" b="1">
                <a:solidFill>
                  <a:schemeClr val="tx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Level 1</a:t>
            </a:r>
          </a:p>
          <a:p>
            <a:pPr lvl="1"/>
            <a:r>
              <a:rPr lang="en-US" noProof="0" dirty="0"/>
              <a:t>Level 2</a:t>
            </a:r>
          </a:p>
          <a:p>
            <a:pPr lvl="2"/>
            <a:r>
              <a:rPr lang="en-US" noProof="0" dirty="0"/>
              <a:t>Level 3</a:t>
            </a:r>
          </a:p>
          <a:p>
            <a:pPr lvl="3"/>
            <a:r>
              <a:rPr lang="en-US" noProof="0" dirty="0"/>
              <a:t>Level 4</a:t>
            </a:r>
          </a:p>
          <a:p>
            <a:pPr lvl="4"/>
            <a:r>
              <a:rPr lang="en-US" noProof="0" dirty="0"/>
              <a:t>Level 5</a:t>
            </a:r>
          </a:p>
        </p:txBody>
      </p:sp>
    </p:spTree>
    <p:extLst>
      <p:ext uri="{BB962C8B-B14F-4D97-AF65-F5344CB8AC3E}">
        <p14:creationId xmlns:p14="http://schemas.microsoft.com/office/powerpoint/2010/main" val="4206170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799" y="1268963"/>
            <a:ext cx="11075143" cy="4506685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Clr>
                <a:srgbClr val="C40D1E"/>
              </a:buClr>
              <a:buSzPct val="100000"/>
              <a:buFont typeface="Wingdings" panose="05000000000000000000" pitchFamily="2" charset="2"/>
              <a:buChar char="§"/>
              <a:defRPr sz="2000" b="1">
                <a:solidFill>
                  <a:srgbClr val="000000"/>
                </a:solidFill>
                <a:latin typeface="+mn-lt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  <a:latin typeface="+mn-lt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  <a:latin typeface="+mn-lt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800">
                <a:solidFill>
                  <a:srgbClr val="000000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Level 1</a:t>
            </a:r>
          </a:p>
          <a:p>
            <a:pPr lvl="1"/>
            <a:r>
              <a:rPr lang="en-US" noProof="0" dirty="0"/>
              <a:t>Level 2</a:t>
            </a:r>
          </a:p>
          <a:p>
            <a:pPr lvl="2"/>
            <a:r>
              <a:rPr lang="en-US" noProof="0" dirty="0"/>
              <a:t>Level 3</a:t>
            </a:r>
          </a:p>
          <a:p>
            <a:pPr lvl="3"/>
            <a:r>
              <a:rPr lang="en-US" noProof="0" dirty="0"/>
              <a:t>Level 4</a:t>
            </a:r>
          </a:p>
          <a:p>
            <a:pPr lvl="4"/>
            <a:r>
              <a:rPr lang="en-US" noProof="0" dirty="0"/>
              <a:t>Level 5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 b="1">
                <a:solidFill>
                  <a:srgbClr val="C40D1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noProof="0" dirty="0"/>
              <a:t>Headline</a:t>
            </a:r>
            <a:br>
              <a:rPr lang="en-US" noProof="0" dirty="0"/>
            </a:br>
            <a:r>
              <a:rPr lang="en-US" noProof="0" dirty="0"/>
              <a:t>optionally 2 lines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E494F037-B453-E6C3-6931-1688CF9B959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2582402"/>
            <a:ext cx="8311908" cy="717437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3700"/>
              </a:lnSpc>
              <a:spcBef>
                <a:spcPts val="0"/>
              </a:spcBef>
              <a:buNone/>
              <a:defRPr sz="3700" b="1">
                <a:solidFill>
                  <a:srgbClr val="C40D1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noProof="0" dirty="0"/>
              <a:t>Headline</a:t>
            </a:r>
            <a:br>
              <a:rPr lang="en-US" noProof="0" dirty="0"/>
            </a:br>
            <a:r>
              <a:rPr lang="en-US" noProof="0" dirty="0"/>
              <a:t>optionally 2 lines</a:t>
            </a:r>
          </a:p>
        </p:txBody>
      </p:sp>
      <p:sp>
        <p:nvSpPr>
          <p:cNvPr id="5" name="Textplatzhalter 17">
            <a:extLst>
              <a:ext uri="{FF2B5EF4-FFF2-40B4-BE49-F238E27FC236}">
                <a16:creationId xmlns:a16="http://schemas.microsoft.com/office/drawing/2014/main" id="{A837A2E9-5AA7-3D02-1A49-6988BEC5B8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1510" y="4180427"/>
            <a:ext cx="8311908" cy="717437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noProof="0" dirty="0"/>
              <a:t>Headline</a:t>
            </a:r>
            <a:br>
              <a:rPr lang="en-US" noProof="0" dirty="0"/>
            </a:br>
            <a:r>
              <a:rPr lang="en-US" noProof="0" dirty="0"/>
              <a:t>optionally 2 lines</a:t>
            </a:r>
          </a:p>
        </p:txBody>
      </p:sp>
    </p:spTree>
    <p:extLst>
      <p:ext uri="{BB962C8B-B14F-4D97-AF65-F5344CB8AC3E}">
        <p14:creationId xmlns:p14="http://schemas.microsoft.com/office/powerpoint/2010/main" val="3619498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gradFill>
            <a:gsLst>
              <a:gs pos="0">
                <a:srgbClr val="FF6C00"/>
              </a:gs>
              <a:gs pos="100000">
                <a:srgbClr val="C40D1E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36184FE9-ADE0-F94C-90C6-58CFCA50F9A4}"/>
              </a:ext>
            </a:extLst>
          </p:cNvPr>
          <p:cNvSpPr txBox="1"/>
          <p:nvPr userDrawn="1"/>
        </p:nvSpPr>
        <p:spPr>
          <a:xfrm>
            <a:off x="1196393" y="6393866"/>
            <a:ext cx="7615318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noProof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Patrick Damme | FG DAMS | LDE </a:t>
            </a:r>
            <a:r>
              <a:rPr lang="en-US" sz="1400" b="0" noProof="0" dirty="0" err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WiSe</a:t>
            </a:r>
            <a:r>
              <a:rPr lang="en-US" sz="1400" b="0" noProof="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2024/25 – List of Project Topics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CF44FBF-6529-4A53-F1BA-D10222FCFDB0}"/>
              </a:ext>
            </a:extLst>
          </p:cNvPr>
          <p:cNvGrpSpPr/>
          <p:nvPr userDrawn="1"/>
        </p:nvGrpSpPr>
        <p:grpSpPr>
          <a:xfrm>
            <a:off x="9433249" y="6055568"/>
            <a:ext cx="2258008" cy="569167"/>
            <a:chOff x="9433249" y="6055568"/>
            <a:chExt cx="2258008" cy="569167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0132AE6E-5DB2-25F8-161D-6A04BD40CA8C}"/>
                </a:ext>
              </a:extLst>
            </p:cNvPr>
            <p:cNvSpPr/>
            <p:nvPr userDrawn="1"/>
          </p:nvSpPr>
          <p:spPr>
            <a:xfrm>
              <a:off x="9433249" y="6055568"/>
              <a:ext cx="2258008" cy="569167"/>
            </a:xfrm>
            <a:prstGeom prst="roundRect">
              <a:avLst>
                <a:gd name="adj" fmla="val 2486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A17F1DB4-F8F6-5B0E-9657-BBA11B1CD3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490187" y="6124808"/>
              <a:ext cx="2124769" cy="426320"/>
            </a:xfrm>
            <a:prstGeom prst="rect">
              <a:avLst/>
            </a:prstGeom>
          </p:spPr>
        </p:pic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FEDE8D1-082D-9900-BD99-D84E6B3FBCD0}"/>
              </a:ext>
            </a:extLst>
          </p:cNvPr>
          <p:cNvSpPr/>
          <p:nvPr userDrawn="1"/>
        </p:nvSpPr>
        <p:spPr>
          <a:xfrm>
            <a:off x="559027" y="6393872"/>
            <a:ext cx="391886" cy="217302"/>
          </a:xfrm>
          <a:prstGeom prst="roundRect">
            <a:avLst>
              <a:gd name="adj" fmla="val 2945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fld id="{675EF3AE-78B3-9641-A88A-C3B5FFA9245E}" type="slidenum">
              <a:rPr lang="de-DE" sz="1400" b="1" smtClean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pPr algn="ctr"/>
              <a:t>‹Nr.›</a:t>
            </a:fld>
            <a:endParaRPr lang="en-US" sz="1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07" r:id="rId2"/>
    <p:sldLayoutId id="214748371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pache/systemds" TargetMode="External"/><Relationship Id="rId7" Type="http://schemas.openxmlformats.org/officeDocument/2006/relationships/image" Target="../media/image8.png"/><Relationship Id="rId2" Type="http://schemas.openxmlformats.org/officeDocument/2006/relationships/hyperlink" Target="https://github.com/daphne-eu/daphne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daphne-eu/daphne/issues/856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daphne-eu/daphne/issues/857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daphne-eu/daphne/issues/858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daphne-eu/daphne/issues/691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daphne-eu/daphne/issues/693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daphne-eu/daphne/issues/859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issues.apache.org/jira/browse/SYSTEMDS-3777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issues.apache.org/jira/browse/SYSTEMDS-3778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issues.apache.org/jira/browse/SYSTEMDS-3556" TargetMode="External"/><Relationship Id="rId2" Type="http://schemas.openxmlformats.org/officeDocument/2006/relationships/hyperlink" Target="https://docs.nvidia.com/cuda/curand/index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issues.apache.org/jira/browse/SYSTEMDS-3543" TargetMode="External"/><Relationship Id="rId2" Type="http://schemas.openxmlformats.org/officeDocument/2006/relationships/hyperlink" Target="https://issues.apache.org/jira/browse/SYSTEMDS-3539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hyperlink" Target="https://issues.apache.org/jira/browse/SYSTEMDS-3779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issues.apache.org/jira/browse/SYSTEMDS-3541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issues.apache.org/jira/browse/SYSTEMDS-3780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issues.apache.org/jira/browse/SYSTEMDS-3548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issues.apache.org/jira/secure/Dashboard.jspa?selectPageId=12335852#Filter-Results/12365413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ldb.org/pvldb/vol8/p1816-teller.pdf" TargetMode="External"/><Relationship Id="rId2" Type="http://schemas.openxmlformats.org/officeDocument/2006/relationships/hyperlink" Target="https://doi.org/10.1109/TSP.2006.875394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ink.springer.com/article/10.1007/s00778-024-00862-z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38EF9A-3A47-F1D2-052E-D714DA5FE1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List of Project Topics (Proposals)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1A647C22-6C15-BD48-5E94-7E41771DBD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Last update: Oct 14, 2024</a:t>
            </a:r>
          </a:p>
        </p:txBody>
      </p:sp>
    </p:spTree>
    <p:extLst>
      <p:ext uri="{BB962C8B-B14F-4D97-AF65-F5344CB8AC3E}">
        <p14:creationId xmlns:p14="http://schemas.microsoft.com/office/powerpoint/2010/main" val="2344923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9F0C8544-3FA1-1678-5EDB-71DE8679A7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Most LDE Projects in the Context of Two Open-source Systems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274D3F8-752C-B7FE-A121-856656994F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0799" y="3347938"/>
            <a:ext cx="5545201" cy="2427709"/>
          </a:xfrm>
        </p:spPr>
        <p:txBody>
          <a:bodyPr/>
          <a:lstStyle/>
          <a:p>
            <a:r>
              <a:rPr lang="en-US" dirty="0"/>
              <a:t>DAPHNE EU-project</a:t>
            </a:r>
            <a:br>
              <a:rPr lang="en-US" dirty="0"/>
            </a:br>
            <a:r>
              <a:rPr lang="en-US" dirty="0">
                <a:hlinkClick r:id="rId2"/>
              </a:rPr>
              <a:t>https://github.com/daphne-eu/daphne</a:t>
            </a:r>
            <a:endParaRPr lang="en-US" dirty="0"/>
          </a:p>
          <a:p>
            <a:pPr lvl="1"/>
            <a:r>
              <a:rPr lang="en-US" dirty="0"/>
              <a:t>Focus on integrated data analysis pipelines</a:t>
            </a:r>
          </a:p>
          <a:p>
            <a:pPr lvl="1"/>
            <a:r>
              <a:rPr lang="en-US" dirty="0"/>
              <a:t>Project implementation mainly in C++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FF5F702-CF84-CE24-40CD-5EB90D9514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14945" y="3341715"/>
            <a:ext cx="5545201" cy="2427709"/>
          </a:xfrm>
        </p:spPr>
        <p:txBody>
          <a:bodyPr/>
          <a:lstStyle/>
          <a:p>
            <a:r>
              <a:rPr lang="en-US" dirty="0"/>
              <a:t>Apache </a:t>
            </a:r>
            <a:r>
              <a:rPr lang="en-US" dirty="0" err="1"/>
              <a:t>SystemDS</a:t>
            </a:r>
            <a:br>
              <a:rPr lang="en-US" dirty="0"/>
            </a:br>
            <a:r>
              <a:rPr lang="en-US" dirty="0">
                <a:hlinkClick r:id="rId3"/>
              </a:rPr>
              <a:t>https://github.com/apache/systemds</a:t>
            </a:r>
            <a:endParaRPr lang="en-US" dirty="0"/>
          </a:p>
          <a:p>
            <a:pPr lvl="1"/>
            <a:r>
              <a:rPr lang="en-US" dirty="0"/>
              <a:t>Focus on the end-to-end data science lifecycle</a:t>
            </a:r>
          </a:p>
          <a:p>
            <a:pPr lvl="1"/>
            <a:r>
              <a:rPr lang="en-US" dirty="0"/>
              <a:t>Project implementation mainly in Java and DML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2BF111C-7C2C-5AB2-3E2D-EC841C17E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006" y="2075600"/>
            <a:ext cx="3384170" cy="782844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18A3024-ADAC-0B80-1B5E-1784EA6EEE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5764" y="2143172"/>
            <a:ext cx="2381250" cy="6477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94A0C14C-3D3D-2F1F-5A31-4139F04DB2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5931" y="2064419"/>
            <a:ext cx="1980908" cy="805207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52B53F8-0C44-9D44-1BA9-AF638DB1E1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6954" y="2200928"/>
            <a:ext cx="798282" cy="53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708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E0AACE2-F70C-5262-AAC9-C53E476000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Topics in DAPHNE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576A9C0-235D-4BF3-5BB8-A082AA83E4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Implementation mainly in C++</a:t>
            </a:r>
          </a:p>
        </p:txBody>
      </p:sp>
    </p:spTree>
    <p:extLst>
      <p:ext uri="{BB962C8B-B14F-4D97-AF65-F5344CB8AC3E}">
        <p14:creationId xmlns:p14="http://schemas.microsoft.com/office/powerpoint/2010/main" val="1659067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96B3445-64D8-E80A-1E79-A124EFE294B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  <a:p>
            <a:pPr lvl="1"/>
            <a:r>
              <a:rPr lang="en-US" dirty="0"/>
              <a:t>When the data to analyze resides in a relational database, it must be exported to a file (e.g., CSV)</a:t>
            </a:r>
            <a:br>
              <a:rPr lang="en-US" dirty="0"/>
            </a:br>
            <a:r>
              <a:rPr lang="en-US" dirty="0"/>
              <a:t>before it can be read in DAPHNE, which is inefficient</a:t>
            </a:r>
          </a:p>
          <a:p>
            <a:r>
              <a:rPr lang="en-US" dirty="0"/>
              <a:t>Task</a:t>
            </a:r>
            <a:r>
              <a:rPr lang="en-US" b="0" dirty="0"/>
              <a:t> (in C++)</a:t>
            </a:r>
          </a:p>
          <a:p>
            <a:pPr lvl="1"/>
            <a:r>
              <a:rPr lang="en-US" b="0" dirty="0"/>
              <a:t>Extend DAPHNE’S existing </a:t>
            </a:r>
            <a:r>
              <a:rPr lang="en-US" b="0" dirty="0" err="1"/>
              <a:t>sql</a:t>
            </a:r>
            <a:r>
              <a:rPr lang="en-US" b="0" dirty="0"/>
              <a:t>() function, such that it can </a:t>
            </a:r>
            <a:r>
              <a:rPr lang="en-US" dirty="0"/>
              <a:t>process the given query over an existing database inside an existing DBMS instance (e.g., </a:t>
            </a:r>
            <a:r>
              <a:rPr lang="en-US" dirty="0" err="1"/>
              <a:t>DuckDB</a:t>
            </a:r>
            <a:r>
              <a:rPr lang="en-US" dirty="0"/>
              <a:t>, MySQL, PostgreSQL, …)</a:t>
            </a:r>
          </a:p>
          <a:p>
            <a:pPr lvl="1"/>
            <a:r>
              <a:rPr lang="en-US" b="0" dirty="0"/>
              <a:t>Implement and compare different methods to import the query result in DAPHNE (e.g., ODBC, </a:t>
            </a:r>
            <a:r>
              <a:rPr lang="en-US" b="0" dirty="0" err="1"/>
              <a:t>ConnectorX</a:t>
            </a:r>
            <a:r>
              <a:rPr lang="en-US" b="0" dirty="0"/>
              <a:t>, …)</a:t>
            </a:r>
          </a:p>
          <a:p>
            <a:r>
              <a:rPr lang="en-US" dirty="0"/>
              <a:t>More information &amp; hints</a:t>
            </a:r>
          </a:p>
          <a:p>
            <a:pPr lvl="1"/>
            <a:r>
              <a:rPr lang="en-US" dirty="0">
                <a:hlinkClick r:id="rId2"/>
              </a:rPr>
              <a:t>https://github.com/daphne-eu/daphne/issues/856</a:t>
            </a:r>
            <a:endParaRPr lang="en-US" dirty="0"/>
          </a:p>
          <a:p>
            <a:pPr lvl="1"/>
            <a:r>
              <a:rPr lang="en-US" dirty="0"/>
              <a:t>Contact: Patrick Damme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CE76AE-385F-4864-2427-3AD9364549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#856: Integration of DAPHNE with Database Systems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144710A-F3E4-C466-67C0-850E0037E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8823" y="423714"/>
            <a:ext cx="1433261" cy="33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287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55AEBD6-3B81-3573-DD8A-1AEFA15E0A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  <a:p>
            <a:pPr lvl="1"/>
            <a:r>
              <a:rPr lang="en-US" dirty="0"/>
              <a:t>Data science workflows are exploratory by nature; thus, variants of the same workflow are executed repeatedly, although they often access the same data set files</a:t>
            </a:r>
          </a:p>
          <a:p>
            <a:pPr lvl="1"/>
            <a:r>
              <a:rPr lang="en-US" dirty="0"/>
              <a:t>When loading a data set file, a lot of information needs to be found out by the system (e.g., column types, separator positions in CSV files, number formats etc.), which makes reading a file more expensive</a:t>
            </a:r>
          </a:p>
          <a:p>
            <a:r>
              <a:rPr lang="en-US" dirty="0"/>
              <a:t>Task</a:t>
            </a:r>
            <a:r>
              <a:rPr lang="en-US" b="0" dirty="0"/>
              <a:t> (in C++)</a:t>
            </a:r>
          </a:p>
          <a:p>
            <a:pPr lvl="1"/>
            <a:r>
              <a:rPr lang="en-US" dirty="0"/>
              <a:t>Explore different means to retain information gathered about a data set file across independent executions</a:t>
            </a:r>
            <a:br>
              <a:rPr lang="en-US" dirty="0"/>
            </a:br>
            <a:r>
              <a:rPr lang="en-US" dirty="0"/>
              <a:t>of a </a:t>
            </a:r>
            <a:r>
              <a:rPr lang="en-US" dirty="0" err="1"/>
              <a:t>DaphneDSL</a:t>
            </a:r>
            <a:r>
              <a:rPr lang="en-US" dirty="0"/>
              <a:t> script for future reuse; these could range from reusing the detected column types over creating suitable indexes to replicating the required part of the data in a more I/O-efficient format on storage</a:t>
            </a:r>
          </a:p>
          <a:p>
            <a:pPr lvl="1"/>
            <a:r>
              <a:rPr lang="en-US" b="0" dirty="0"/>
              <a:t>Think </a:t>
            </a:r>
            <a:r>
              <a:rPr lang="en-US" dirty="0"/>
              <a:t>of meaningful schemes to exploit a given storage budget for the most useful information</a:t>
            </a:r>
          </a:p>
          <a:p>
            <a:pPr lvl="1"/>
            <a:r>
              <a:rPr lang="en-US" b="0" dirty="0"/>
              <a:t>Dete</a:t>
            </a:r>
            <a:r>
              <a:rPr lang="en-US" dirty="0"/>
              <a:t>ct changes to the data set outside of DAPHNE and invalidate the auxiliary information as required</a:t>
            </a:r>
            <a:endParaRPr lang="en-US" b="0" dirty="0"/>
          </a:p>
          <a:p>
            <a:r>
              <a:rPr lang="en-US" dirty="0"/>
              <a:t>More information &amp; hints</a:t>
            </a:r>
          </a:p>
          <a:p>
            <a:pPr lvl="1"/>
            <a:r>
              <a:rPr lang="en-US" dirty="0">
                <a:hlinkClick r:id="rId2"/>
              </a:rPr>
              <a:t>https://github.com/daphne-eu/daphne/issues/857</a:t>
            </a:r>
            <a:endParaRPr lang="en-US" dirty="0"/>
          </a:p>
          <a:p>
            <a:pPr lvl="1"/>
            <a:r>
              <a:rPr lang="en-US" dirty="0"/>
              <a:t>Contact: Patrick Damme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CC234B0-A72D-5BD3-6CCD-D0EA768AA1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5866" y="396545"/>
            <a:ext cx="8698351" cy="717437"/>
          </a:xfrm>
        </p:spPr>
        <p:txBody>
          <a:bodyPr/>
          <a:lstStyle/>
          <a:p>
            <a:r>
              <a:rPr lang="en-US" dirty="0"/>
              <a:t>#857: Speed-up Repeated Read of Data Set Files w/ Storage Budget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82CBAD0-E289-4958-4D9A-39B7B2A72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8823" y="423714"/>
            <a:ext cx="1433261" cy="33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941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94F720C0-C715-EE5C-129E-B6E097ECA12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  <a:p>
            <a:pPr lvl="1"/>
            <a:r>
              <a:rPr lang="en-US" dirty="0"/>
              <a:t>String data is commonplace in real-world data sets, and DAPHNE supports string-values matrices/frames</a:t>
            </a:r>
          </a:p>
          <a:p>
            <a:pPr lvl="1"/>
            <a:r>
              <a:rPr lang="en-US" dirty="0"/>
              <a:t>There are many different ways to represent strings (or a sequence of string) with different trade-offs regarding efficiency (memory footprint, runtime of various operations) and simplicity</a:t>
            </a:r>
          </a:p>
          <a:p>
            <a:r>
              <a:rPr lang="en-US" dirty="0"/>
              <a:t>Task</a:t>
            </a:r>
            <a:r>
              <a:rPr lang="en-US" b="0" dirty="0"/>
              <a:t> (in C++)</a:t>
            </a:r>
          </a:p>
          <a:p>
            <a:pPr lvl="1"/>
            <a:r>
              <a:rPr lang="en-US" b="0" dirty="0"/>
              <a:t>Implement and compare additional, more advanced string representations as new value types in DAPHNE</a:t>
            </a:r>
          </a:p>
          <a:p>
            <a:pPr lvl="1"/>
            <a:r>
              <a:rPr lang="en-US" b="0" dirty="0"/>
              <a:t>A range of typical operations should be supported on these types (e.g., comparison, transformations, </a:t>
            </a:r>
            <a:r>
              <a:rPr lang="en-US" b="0" dirty="0" err="1"/>
              <a:t>concat</a:t>
            </a:r>
            <a:r>
              <a:rPr lang="en-US" b="0" dirty="0"/>
              <a:t>, …)</a:t>
            </a:r>
          </a:p>
          <a:p>
            <a:pPr lvl="1"/>
            <a:r>
              <a:rPr lang="en-US" dirty="0"/>
              <a:t>Exploit data characteristics to design efficient algorithms on string-valued matrices/frames</a:t>
            </a:r>
            <a:endParaRPr lang="en-US" b="0" dirty="0"/>
          </a:p>
          <a:p>
            <a:pPr lvl="1"/>
            <a:r>
              <a:rPr lang="en-US" dirty="0"/>
              <a:t>Examples include: Umbra strings, dictionary encoded strings, prefix-encoded strings, etc.</a:t>
            </a:r>
            <a:endParaRPr lang="en-US" b="0" dirty="0"/>
          </a:p>
          <a:p>
            <a:r>
              <a:rPr lang="en-US" dirty="0"/>
              <a:t>More information &amp; hints</a:t>
            </a:r>
          </a:p>
          <a:p>
            <a:pPr lvl="1"/>
            <a:r>
              <a:rPr lang="en-US" dirty="0">
                <a:hlinkClick r:id="rId2"/>
              </a:rPr>
              <a:t>https://github.com/daphne-eu/daphne/issues/858</a:t>
            </a:r>
            <a:endParaRPr lang="en-US" dirty="0"/>
          </a:p>
          <a:p>
            <a:pPr lvl="1"/>
            <a:r>
              <a:rPr lang="en-US" dirty="0"/>
              <a:t>Contact: Patrick Damme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AAEEBAF-B678-FCCE-DC93-A522CCA71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#858: Compare Different String Representations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771AD2B-4FC3-23FE-3268-C79314888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8823" y="423714"/>
            <a:ext cx="1433261" cy="33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580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3CA939F-1951-7AE0-6515-72FC47EE619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  <a:p>
            <a:pPr lvl="1"/>
            <a:r>
              <a:rPr lang="en-US" dirty="0"/>
              <a:t>By default, DAPHNE lowers domain-specific operations from linear and relational algebra operations</a:t>
            </a:r>
            <a:br>
              <a:rPr lang="en-US" dirty="0"/>
            </a:br>
            <a:r>
              <a:rPr lang="en-US" dirty="0"/>
              <a:t>to calls to pre-compiled C++ kernels (physical operators).</a:t>
            </a:r>
          </a:p>
          <a:p>
            <a:pPr lvl="1"/>
            <a:r>
              <a:rPr lang="en-US" dirty="0"/>
              <a:t>However, being based on MLIR/LLVM, on-the-fly code generation for these operations is an alternative option.</a:t>
            </a:r>
          </a:p>
          <a:p>
            <a:pPr lvl="1"/>
            <a:r>
              <a:rPr lang="en-US" dirty="0"/>
              <a:t>Interestingly, both approaches have their pros and cons, so a hybrid approach (choosing pre-compiled kernels for some operations and using code generation for others) is desirable.</a:t>
            </a:r>
          </a:p>
          <a:p>
            <a:r>
              <a:rPr lang="en-US" dirty="0"/>
              <a:t>Task</a:t>
            </a:r>
            <a:r>
              <a:rPr lang="en-US" b="0" dirty="0"/>
              <a:t> (in C++)</a:t>
            </a:r>
          </a:p>
          <a:p>
            <a:pPr lvl="1"/>
            <a:r>
              <a:rPr lang="en-US" dirty="0"/>
              <a:t>Extend DAPHNE’s existing proof-of-concept for a hybrid compilation chain by additional features such as:</a:t>
            </a:r>
          </a:p>
          <a:p>
            <a:pPr lvl="2"/>
            <a:r>
              <a:rPr lang="en-US" dirty="0"/>
              <a:t>Support for the Frame data type and relational algebra operations thereon</a:t>
            </a:r>
          </a:p>
          <a:p>
            <a:pPr lvl="2"/>
            <a:r>
              <a:rPr lang="en-US" dirty="0"/>
              <a:t>Support for sparse matrix data types (e.g., CSR) and linear algebra operations thereon</a:t>
            </a:r>
          </a:p>
          <a:p>
            <a:pPr lvl="2"/>
            <a:r>
              <a:rPr lang="en-US" dirty="0"/>
              <a:t>Support for zero-copy views into row/column segments of matrices and frames</a:t>
            </a:r>
          </a:p>
          <a:p>
            <a:pPr lvl="2"/>
            <a:r>
              <a:rPr lang="en-US" dirty="0"/>
              <a:t>Integration of code-generated operations with DAPHNE’s vectorized pipelines</a:t>
            </a:r>
          </a:p>
          <a:p>
            <a:pPr lvl="2"/>
            <a:r>
              <a:rPr lang="en-US" dirty="0"/>
              <a:t>Automatic decision on whether to use a pre-compiled kernel or to generate code</a:t>
            </a:r>
          </a:p>
          <a:p>
            <a:r>
              <a:rPr lang="en-US" dirty="0"/>
              <a:t>More information &amp; hints</a:t>
            </a:r>
          </a:p>
          <a:p>
            <a:pPr lvl="1"/>
            <a:r>
              <a:rPr lang="en-US" dirty="0">
                <a:hlinkClick r:id="rId2"/>
              </a:rPr>
              <a:t>https://github.com/daphne-eu/daphne/issues/691</a:t>
            </a:r>
            <a:endParaRPr lang="en-US" dirty="0"/>
          </a:p>
          <a:p>
            <a:pPr lvl="1"/>
            <a:r>
              <a:rPr lang="en-US" dirty="0"/>
              <a:t>Contact: Philipp Ortner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99EF7F8-4A94-1466-F3F0-8D42B83A01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#691: Hybrid Compilation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38EB9B3-47F1-0D00-5016-FE6049638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8823" y="423714"/>
            <a:ext cx="1433261" cy="33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279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2283C8F-D947-6242-BB5B-6F41B55B1DB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  <a:p>
            <a:pPr lvl="1"/>
            <a:r>
              <a:rPr lang="en-US" dirty="0"/>
              <a:t>By default, DAPHNE lowers domain-specific operations from linear and relational algebra operations</a:t>
            </a:r>
            <a:br>
              <a:rPr lang="en-US" dirty="0"/>
            </a:br>
            <a:r>
              <a:rPr lang="en-US" dirty="0"/>
              <a:t>to calls to pre-compiled C++ kernels (physical operators).</a:t>
            </a:r>
          </a:p>
          <a:p>
            <a:pPr lvl="1"/>
            <a:r>
              <a:rPr lang="en-US" dirty="0"/>
              <a:t>However, being based on MLIR/LLVM, on-the-fly code generation for these operations is an alternative option, which could, e.g., simplify targeting hardware accelerators through existing MLIR/LLVM backends.</a:t>
            </a:r>
          </a:p>
          <a:p>
            <a:r>
              <a:rPr lang="en-US" dirty="0"/>
              <a:t>Task</a:t>
            </a:r>
            <a:r>
              <a:rPr lang="en-US" b="0" dirty="0"/>
              <a:t> (in C++)</a:t>
            </a:r>
          </a:p>
          <a:p>
            <a:pPr lvl="1"/>
            <a:r>
              <a:rPr lang="en-US" dirty="0"/>
              <a:t>Implement a proof-of-concept for a compilation pipeline in DAPHNE, which only involves code-generated operations, thereby reducing the compatibility challenges of a hybrid compilation chain.</a:t>
            </a:r>
          </a:p>
          <a:p>
            <a:pPr lvl="1"/>
            <a:r>
              <a:rPr lang="en-US" dirty="0"/>
              <a:t>For simplicity, you can focus on linear algebra operations, supporting dense and sparse matrices.</a:t>
            </a:r>
          </a:p>
          <a:p>
            <a:pPr lvl="1"/>
            <a:r>
              <a:rPr lang="en-US" dirty="0"/>
              <a:t>The resulting code may target x86 CPUs or, optionally CUDA-enabled GPUs.</a:t>
            </a:r>
          </a:p>
          <a:p>
            <a:r>
              <a:rPr lang="en-US" dirty="0"/>
              <a:t>More information &amp; hints</a:t>
            </a:r>
          </a:p>
          <a:p>
            <a:pPr lvl="1"/>
            <a:r>
              <a:rPr lang="en-US" dirty="0"/>
              <a:t>Working on the GPU aspect is optional and requires a GPU with CUDA support</a:t>
            </a:r>
          </a:p>
          <a:p>
            <a:pPr lvl="1"/>
            <a:r>
              <a:rPr lang="en-US" dirty="0">
                <a:hlinkClick r:id="rId2"/>
              </a:rPr>
              <a:t>https://github.com/daphne-eu/daphne/issues/693</a:t>
            </a:r>
            <a:endParaRPr lang="en-US" dirty="0"/>
          </a:p>
          <a:p>
            <a:pPr lvl="1"/>
            <a:r>
              <a:rPr lang="en-US" dirty="0"/>
              <a:t>Contact: Philipp Ortner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941293F-1F5E-9F39-EA47-8DCCE04FE4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#693: </a:t>
            </a:r>
            <a:r>
              <a:rPr lang="en-US" dirty="0" err="1"/>
              <a:t>Codegen</a:t>
            </a:r>
            <a:r>
              <a:rPr lang="en-US" dirty="0"/>
              <a:t>-only Compilation Pipeline for LA Operations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E75189F-CA88-CE37-B90A-09E54634C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8823" y="423714"/>
            <a:ext cx="1433261" cy="33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072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384AB1A-36C3-9626-F7F8-51B2173476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  <a:p>
            <a:pPr lvl="1"/>
            <a:r>
              <a:rPr lang="en-US" dirty="0"/>
              <a:t>Any complex system requires a good test coverage to detect bugs and performance regressions</a:t>
            </a:r>
          </a:p>
          <a:p>
            <a:pPr lvl="1"/>
            <a:r>
              <a:rPr lang="en-US" dirty="0"/>
              <a:t>To achieve this, writing test cases should be easy and their execution automated as much as possible</a:t>
            </a:r>
          </a:p>
          <a:p>
            <a:pPr lvl="1"/>
            <a:r>
              <a:rPr lang="en-US" dirty="0"/>
              <a:t>DAPHNE already has a lot of unit and script-level tests, however, some important aspects are still missing</a:t>
            </a:r>
          </a:p>
          <a:p>
            <a:r>
              <a:rPr lang="en-US" dirty="0"/>
              <a:t>Task</a:t>
            </a:r>
            <a:r>
              <a:rPr lang="en-US" b="0" dirty="0"/>
              <a:t> (in C++, </a:t>
            </a:r>
            <a:r>
              <a:rPr lang="en-US" b="0" dirty="0" err="1"/>
              <a:t>DaphneDSL</a:t>
            </a:r>
            <a:r>
              <a:rPr lang="en-US" b="0" dirty="0"/>
              <a:t>, bash, Python)</a:t>
            </a:r>
          </a:p>
          <a:p>
            <a:pPr lvl="1"/>
            <a:r>
              <a:rPr lang="en-US" dirty="0"/>
              <a:t>Introduce an infrastructure for automated performance regression tests, that run certain benchmark </a:t>
            </a:r>
            <a:r>
              <a:rPr lang="en-US" dirty="0" err="1"/>
              <a:t>DaphneDSL</a:t>
            </a:r>
            <a:r>
              <a:rPr lang="en-US" dirty="0"/>
              <a:t> scripts automatically, compare the runtime performance to previous runs, and report regressions</a:t>
            </a:r>
          </a:p>
          <a:p>
            <a:pPr lvl="1"/>
            <a:r>
              <a:rPr lang="en-US" dirty="0"/>
              <a:t>DSL fuzzing: Automatically generate random, simple and complex, equivalent scripts in </a:t>
            </a:r>
            <a:r>
              <a:rPr lang="en-US" dirty="0" err="1"/>
              <a:t>DaphneDSL</a:t>
            </a:r>
            <a:r>
              <a:rPr lang="en-US" dirty="0"/>
              <a:t>/</a:t>
            </a:r>
            <a:r>
              <a:rPr lang="en-US" dirty="0" err="1"/>
              <a:t>DaphneLib</a:t>
            </a:r>
            <a:r>
              <a:rPr lang="en-US" dirty="0"/>
              <a:t> and a baseline (e.g., Python, Julia, R) and compare their outputs to each other to find bugs in DAPHNE.</a:t>
            </a:r>
          </a:p>
          <a:p>
            <a:pPr lvl="1"/>
            <a:r>
              <a:rPr lang="en-US" dirty="0"/>
              <a:t>Introduce a means to easily write a high number of script-level test cases that are executed independently of each other</a:t>
            </a:r>
          </a:p>
          <a:p>
            <a:r>
              <a:rPr lang="en-US" dirty="0"/>
              <a:t>More information &amp; hints</a:t>
            </a:r>
          </a:p>
          <a:p>
            <a:pPr lvl="1"/>
            <a:r>
              <a:rPr lang="en-US" dirty="0">
                <a:hlinkClick r:id="rId2"/>
              </a:rPr>
              <a:t>https://github.com/daphne-eu/daphne/issues/859</a:t>
            </a:r>
            <a:endParaRPr lang="en-US" dirty="0"/>
          </a:p>
          <a:p>
            <a:pPr lvl="1"/>
            <a:r>
              <a:rPr lang="en-US" dirty="0"/>
              <a:t>The focus of this task is on improving the test infrastructure, not on adding the actual test cases</a:t>
            </a:r>
          </a:p>
          <a:p>
            <a:pPr lvl="1"/>
            <a:r>
              <a:rPr lang="en-US" dirty="0"/>
              <a:t>Contact: Patrick Damme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0A4AE08-FF0D-E547-B63E-AC04E510A6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#859: Advanced Test Infrastructure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86D3528-34C5-A1A0-0C3A-F73025202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8823" y="423714"/>
            <a:ext cx="1433261" cy="33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335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224CFC0-B76C-DC7A-4720-59B3227952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Topics in Apache </a:t>
            </a:r>
            <a:r>
              <a:rPr lang="en-US" dirty="0" err="1"/>
              <a:t>SystemDS</a:t>
            </a:r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55E71EB-131E-8542-3382-8E1145131B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1509" y="4180427"/>
            <a:ext cx="9337557" cy="717437"/>
          </a:xfrm>
        </p:spPr>
        <p:txBody>
          <a:bodyPr/>
          <a:lstStyle/>
          <a:p>
            <a:r>
              <a:rPr lang="en-US" dirty="0"/>
              <a:t>Implementation mainly in Java and DML (</a:t>
            </a:r>
            <a:r>
              <a:rPr lang="en-US" dirty="0" err="1"/>
              <a:t>SystemDS’s</a:t>
            </a:r>
            <a:r>
              <a:rPr lang="en-US" dirty="0"/>
              <a:t> R-like domain-specific language)</a:t>
            </a:r>
          </a:p>
        </p:txBody>
      </p:sp>
    </p:spTree>
    <p:extLst>
      <p:ext uri="{BB962C8B-B14F-4D97-AF65-F5344CB8AC3E}">
        <p14:creationId xmlns:p14="http://schemas.microsoft.com/office/powerpoint/2010/main" val="1508508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F14F134-3537-25A8-9C91-1DF8E648CF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Task</a:t>
            </a:r>
            <a:r>
              <a:rPr lang="en-US" b="0" dirty="0"/>
              <a:t> (in Java and DML)</a:t>
            </a:r>
          </a:p>
          <a:p>
            <a:pPr lvl="1"/>
            <a:r>
              <a:rPr lang="en-US" dirty="0"/>
              <a:t>Add a new script-level built-in function </a:t>
            </a:r>
            <a:r>
              <a:rPr lang="en-US" dirty="0" err="1"/>
              <a:t>adasyn</a:t>
            </a:r>
            <a:r>
              <a:rPr lang="en-US" dirty="0"/>
              <a:t>() for oversampling the minor class</a:t>
            </a:r>
            <a:br>
              <a:rPr lang="en-US" dirty="0"/>
            </a:br>
            <a:r>
              <a:rPr lang="en-US" dirty="0"/>
              <a:t>in imbalanced training data sets via the ADASYN method</a:t>
            </a:r>
          </a:p>
          <a:p>
            <a:pPr lvl="1"/>
            <a:r>
              <a:rPr lang="en-US" dirty="0" err="1"/>
              <a:t>SystemDS</a:t>
            </a:r>
            <a:r>
              <a:rPr lang="en-US" dirty="0"/>
              <a:t> already implements a built-in function for SMOTE, which can be used as an example</a:t>
            </a:r>
          </a:p>
          <a:p>
            <a:pPr lvl="1"/>
            <a:r>
              <a:rPr lang="en-US" dirty="0"/>
              <a:t>In detail this task should</a:t>
            </a:r>
          </a:p>
          <a:p>
            <a:pPr lvl="2"/>
            <a:r>
              <a:rPr lang="en-US" dirty="0"/>
              <a:t>Start by implementing the corresponding </a:t>
            </a:r>
            <a:r>
              <a:rPr lang="en-US" dirty="0" err="1"/>
              <a:t>junit</a:t>
            </a:r>
            <a:r>
              <a:rPr lang="en-US" dirty="0"/>
              <a:t> tests (for local and spark operations)</a:t>
            </a:r>
          </a:p>
          <a:p>
            <a:pPr lvl="2"/>
            <a:r>
              <a:rPr lang="en-US" dirty="0"/>
              <a:t>Register the new built-in function</a:t>
            </a:r>
          </a:p>
          <a:p>
            <a:pPr lvl="2"/>
            <a:r>
              <a:rPr lang="en-US" dirty="0"/>
              <a:t>Implement the ADASYN built-in function</a:t>
            </a:r>
          </a:p>
          <a:p>
            <a:pPr lvl="2"/>
            <a:r>
              <a:rPr lang="en-US" dirty="0"/>
              <a:t>Evaluate the new method on a number of real datasets</a:t>
            </a:r>
          </a:p>
          <a:p>
            <a:r>
              <a:rPr lang="en-US" dirty="0"/>
              <a:t>More information &amp; hints</a:t>
            </a:r>
          </a:p>
          <a:p>
            <a:pPr lvl="1"/>
            <a:r>
              <a:rPr lang="en-US" sz="1800" u="none" strike="noStrike" kern="150" dirty="0">
                <a:effectLst/>
                <a:latin typeface="OpenSymbol"/>
                <a:ea typeface="OpenSymbol"/>
                <a:cs typeface="OpenSymbol"/>
                <a:hlinkClick r:id="rId2"/>
              </a:rPr>
              <a:t>https://issues.apache.org/jira/browse/SYSTEMDS-3777</a:t>
            </a:r>
            <a:endParaRPr lang="en-US" dirty="0"/>
          </a:p>
          <a:p>
            <a:pPr lvl="1"/>
            <a:r>
              <a:rPr lang="en-US" dirty="0"/>
              <a:t>Contact: Matthias Boehm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782ECE-3AE2-8056-9C7E-41E4CA6412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#3777: Built-in Function for ADASYN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3CC1840-31BB-A299-6B55-0B0D1772A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8823" y="430062"/>
            <a:ext cx="1392779" cy="37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391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8F1DB7D-2540-9973-436B-A8DC3B0E266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Task</a:t>
            </a:r>
            <a:r>
              <a:rPr lang="en-US" b="0" dirty="0"/>
              <a:t> (in Java and DML)</a:t>
            </a:r>
            <a:endParaRPr lang="en-US" dirty="0"/>
          </a:p>
          <a:p>
            <a:pPr lvl="1"/>
            <a:r>
              <a:rPr lang="en-US" dirty="0"/>
              <a:t>Add a natively supported built-in function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s=det(A)</a:t>
            </a:r>
            <a:r>
              <a:rPr lang="en-US" dirty="0"/>
              <a:t> for computing the determinant of a squared matrix</a:t>
            </a:r>
          </a:p>
          <a:p>
            <a:pPr lvl="1"/>
            <a:r>
              <a:rPr lang="en-US" dirty="0"/>
              <a:t>Internally, these operation can either be implemented through dedicated kernels or a rotation of the matrix and subsequent row and column sums</a:t>
            </a:r>
          </a:p>
          <a:p>
            <a:pPr lvl="1"/>
            <a:r>
              <a:rPr lang="en-US" dirty="0"/>
              <a:t>In detail, the task should be approached in 3 subsequent PRs (where the 1</a:t>
            </a:r>
            <a:r>
              <a:rPr lang="en-US" baseline="30000" dirty="0"/>
              <a:t>st</a:t>
            </a:r>
            <a:r>
              <a:rPr lang="en-US" dirty="0"/>
              <a:t> PR comprises tests and local ops)</a:t>
            </a:r>
          </a:p>
          <a:p>
            <a:pPr lvl="2"/>
            <a:r>
              <a:rPr lang="en-US" dirty="0"/>
              <a:t>Tests and built-in function registration</a:t>
            </a:r>
          </a:p>
          <a:p>
            <a:pPr lvl="2"/>
            <a:r>
              <a:rPr lang="en-US" dirty="0"/>
              <a:t>Local in-memory operations</a:t>
            </a:r>
          </a:p>
          <a:p>
            <a:pPr lvl="2"/>
            <a:r>
              <a:rPr lang="en-US" dirty="0"/>
              <a:t>Distributed Spark operations</a:t>
            </a:r>
          </a:p>
          <a:p>
            <a:pPr lvl="2"/>
            <a:r>
              <a:rPr lang="en-US" dirty="0"/>
              <a:t>Two or three simplification rewrites</a:t>
            </a:r>
            <a:br>
              <a:rPr lang="en-US" dirty="0"/>
            </a:br>
            <a:r>
              <a:rPr lang="en-US" dirty="0"/>
              <a:t>(e.g.,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det(t(A)) --&gt; det(A)</a:t>
            </a:r>
            <a:r>
              <a:rPr lang="en-US" dirty="0"/>
              <a:t>, 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det(A%*%B) --&gt; det(A)*det(B)</a:t>
            </a:r>
            <a:r>
              <a:rPr lang="en-US" dirty="0"/>
              <a:t>)</a:t>
            </a:r>
          </a:p>
          <a:p>
            <a:r>
              <a:rPr lang="en-US" dirty="0"/>
              <a:t>More information &amp; hints</a:t>
            </a:r>
          </a:p>
          <a:p>
            <a:pPr lvl="1"/>
            <a:r>
              <a:rPr lang="en-US" dirty="0">
                <a:hlinkClick r:id="rId2"/>
              </a:rPr>
              <a:t>https://issues.apache.org/jira/browse/SYSTEMDS-3778</a:t>
            </a:r>
            <a:endParaRPr lang="en-US" dirty="0"/>
          </a:p>
          <a:p>
            <a:pPr lvl="1"/>
            <a:r>
              <a:rPr lang="en-US" dirty="0"/>
              <a:t>Contact: Matthias Boehm</a:t>
            </a:r>
          </a:p>
          <a:p>
            <a:pPr lvl="1"/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6219E75-9D75-3585-E176-ECDE78FD75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#3778: Determinant Computation Primitives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AA3E53D-E760-FFE3-79BC-A2EC18FC7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8823" y="430062"/>
            <a:ext cx="1392779" cy="37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183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F3D55187-05EC-3B77-A00D-050995E968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  <a:p>
            <a:pPr lvl="1"/>
            <a:r>
              <a:rPr lang="en-US" dirty="0" err="1"/>
              <a:t>SystemDS's</a:t>
            </a:r>
            <a:r>
              <a:rPr lang="en-US" dirty="0"/>
              <a:t> random number generation is based on a sequential number generation</a:t>
            </a:r>
            <a:br>
              <a:rPr lang="en-US" dirty="0"/>
            </a:br>
            <a:r>
              <a:rPr lang="en-US" dirty="0"/>
              <a:t>of individual blocks of </a:t>
            </a:r>
            <a:r>
              <a:rPr lang="en-US" dirty="0" err="1"/>
              <a:t>BlockSize</a:t>
            </a:r>
            <a:r>
              <a:rPr lang="en-US" dirty="0"/>
              <a:t> x </a:t>
            </a:r>
            <a:r>
              <a:rPr lang="en-US" dirty="0" err="1"/>
              <a:t>BlockSize</a:t>
            </a:r>
            <a:endParaRPr lang="en-US" dirty="0"/>
          </a:p>
          <a:p>
            <a:pPr lvl="1"/>
            <a:r>
              <a:rPr lang="en-US" dirty="0"/>
              <a:t>This makes the generation of matrices parallelized at maximum at the number of blocks</a:t>
            </a:r>
          </a:p>
          <a:p>
            <a:pPr lvl="1"/>
            <a:r>
              <a:rPr lang="en-US" dirty="0"/>
              <a:t>This technique is inefficient on GPUs</a:t>
            </a:r>
          </a:p>
          <a:p>
            <a:r>
              <a:rPr lang="en-US" dirty="0"/>
              <a:t>Task</a:t>
            </a:r>
            <a:r>
              <a:rPr lang="en-US" b="0" dirty="0"/>
              <a:t> (in Java and DML)</a:t>
            </a:r>
          </a:p>
          <a:p>
            <a:pPr lvl="1"/>
            <a:r>
              <a:rPr lang="en-US" dirty="0"/>
              <a:t>Implement a counter-based random generation of blocks that work well on both CPU and GPU</a:t>
            </a:r>
          </a:p>
          <a:p>
            <a:pPr lvl="1"/>
            <a:r>
              <a:rPr lang="en-US" dirty="0"/>
              <a:t>The ideal implementation produces equivalent results to </a:t>
            </a:r>
            <a:r>
              <a:rPr lang="en-US" dirty="0" err="1"/>
              <a:t>cuRAND</a:t>
            </a:r>
            <a:r>
              <a:rPr lang="en-US" dirty="0"/>
              <a:t> (</a:t>
            </a:r>
            <a:r>
              <a:rPr lang="en-US" dirty="0">
                <a:hlinkClick r:id="rId2"/>
              </a:rPr>
              <a:t>https://docs.nvidia.com/cuda/curand/index.html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Generate values based on the block ID associated to make the generation compatible with Spark,</a:t>
            </a:r>
            <a:br>
              <a:rPr lang="en-US" dirty="0"/>
            </a:br>
            <a:r>
              <a:rPr lang="en-US" dirty="0"/>
              <a:t>but inside each block, the values should be generated based on the counter-based number generator</a:t>
            </a:r>
          </a:p>
          <a:p>
            <a:r>
              <a:rPr lang="en-US" dirty="0"/>
              <a:t>More information &amp; hints</a:t>
            </a:r>
          </a:p>
          <a:p>
            <a:pPr lvl="1"/>
            <a:r>
              <a:rPr lang="en-US" dirty="0">
                <a:hlinkClick r:id="rId3"/>
              </a:rPr>
              <a:t>https://issues.apache.org/jira/browse/SYSTEMDS-3556</a:t>
            </a:r>
            <a:endParaRPr lang="en-US" dirty="0"/>
          </a:p>
          <a:p>
            <a:pPr lvl="1"/>
            <a:r>
              <a:rPr lang="en-US" dirty="0"/>
              <a:t>Contact: Sebastian </a:t>
            </a:r>
            <a:r>
              <a:rPr lang="en-US" dirty="0" err="1"/>
              <a:t>Baunsgaard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6BA959B-DD45-63BC-6118-24EF2205A7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#3556: Counter-based Random Number Generation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38C8594-4226-680C-8D7D-ABC5E03A3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8823" y="430062"/>
            <a:ext cx="1392779" cy="37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896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3262791-6941-4944-D7E3-FDE08F1BE59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1600" dirty="0"/>
              <a:t>#3539: Delta Encoding</a:t>
            </a:r>
            <a:r>
              <a:rPr lang="en-US" sz="1600" b="0" dirty="0"/>
              <a:t> (in Java)</a:t>
            </a:r>
          </a:p>
          <a:p>
            <a:pPr lvl="1">
              <a:lnSpc>
                <a:spcPct val="100000"/>
              </a:lnSpc>
            </a:pPr>
            <a:r>
              <a:rPr lang="en-US" sz="1400" b="0" dirty="0"/>
              <a:t>Reader for uncompressed matrices to be encoded into compression statistics as if delta-encoded</a:t>
            </a:r>
          </a:p>
          <a:p>
            <a:pPr lvl="1">
              <a:lnSpc>
                <a:spcPct val="100000"/>
              </a:lnSpc>
            </a:pPr>
            <a:r>
              <a:rPr lang="en-US" sz="1400" b="0" dirty="0"/>
              <a:t>Transforming operations such as cumulative sum that have to be wired to transform existing column groups into a delta-encoded column group</a:t>
            </a:r>
          </a:p>
          <a:p>
            <a:pPr lvl="1">
              <a:lnSpc>
                <a:spcPct val="100000"/>
              </a:lnSpc>
            </a:pPr>
            <a:r>
              <a:rPr lang="en-US" sz="1400" b="0" dirty="0"/>
              <a:t>Compression taking an uncompressed matrix and encoding a delta-encoded column group from it without materializing the delta encoded version of the input matrix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#3543: Piece-wise Linear Compression</a:t>
            </a:r>
            <a:r>
              <a:rPr lang="en-US" sz="1600" b="0" dirty="0"/>
              <a:t> (in Java)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Implement a new column group for piece-wise linear compression that is based on a target loss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The technique compresses a column of values, into smaller line segments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A naive implementation of this in the extreme cases would potentially be 0 target loss, with full allocation of input, and 100% target loss containing only the average of all values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Other than this, the implementation moves from a lossless array into a lossless piece-wise linear representation via dynamic programming.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#3779: LZW Compression</a:t>
            </a:r>
            <a:r>
              <a:rPr lang="en-US" sz="1600" b="0" dirty="0"/>
              <a:t> (in Java)</a:t>
            </a:r>
          </a:p>
          <a:p>
            <a:pPr lvl="1">
              <a:lnSpc>
                <a:spcPct val="100000"/>
              </a:lnSpc>
            </a:pPr>
            <a:r>
              <a:rPr lang="en-US" sz="1400" b="0" dirty="0"/>
              <a:t>Add a LZW compressed column group, that builds on top of the DDC group, only compressing the mapping data with LZW compression</a:t>
            </a:r>
          </a:p>
          <a:p>
            <a:pPr lvl="1">
              <a:lnSpc>
                <a:spcPct val="100000"/>
              </a:lnSpc>
            </a:pPr>
            <a:r>
              <a:rPr lang="en-US" sz="1400" b="0" dirty="0"/>
              <a:t>Use a modified LZW algorithm that returns equal size codes for each code compressed</a:t>
            </a:r>
          </a:p>
          <a:p>
            <a:pPr lvl="1">
              <a:lnSpc>
                <a:spcPct val="100000"/>
              </a:lnSpc>
            </a:pPr>
            <a:r>
              <a:rPr lang="en-US" sz="1400" b="0" dirty="0"/>
              <a:t>It should be possible to allocate a temporary mapping for the index to enable efficient processing directly on the compressed representation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More information &amp; hints</a:t>
            </a:r>
          </a:p>
          <a:p>
            <a:pPr lvl="1">
              <a:lnSpc>
                <a:spcPct val="100000"/>
              </a:lnSpc>
            </a:pPr>
            <a:r>
              <a:rPr lang="en-US" sz="1400" dirty="0">
                <a:hlinkClick r:id="rId2"/>
              </a:rPr>
              <a:t>https://issues.apache.org/jira/browse/SYSTEMDS-3539</a:t>
            </a:r>
            <a:r>
              <a:rPr lang="en-US" sz="1400" dirty="0"/>
              <a:t>, </a:t>
            </a:r>
            <a:r>
              <a:rPr lang="en-US" sz="1400" dirty="0">
                <a:hlinkClick r:id="rId3"/>
              </a:rPr>
              <a:t>https://issues.apache.org/jira/browse/SYSTEMDS-3543</a:t>
            </a:r>
            <a:r>
              <a:rPr lang="en-US" sz="1400" dirty="0"/>
              <a:t>, </a:t>
            </a:r>
            <a:r>
              <a:rPr lang="en-US" sz="1400" dirty="0">
                <a:hlinkClick r:id="rId4"/>
              </a:rPr>
              <a:t>https://issues.apache.org/jira/browse/SYSTEMDS-3779</a:t>
            </a:r>
            <a:endParaRPr lang="en-US" sz="1400" dirty="0"/>
          </a:p>
          <a:p>
            <a:pPr lvl="1">
              <a:lnSpc>
                <a:spcPct val="100000"/>
              </a:lnSpc>
            </a:pPr>
            <a:r>
              <a:rPr lang="en-US" sz="1400" dirty="0"/>
              <a:t>Contact: Sebastian </a:t>
            </a:r>
            <a:r>
              <a:rPr lang="en-US" sz="1400" dirty="0" err="1"/>
              <a:t>Baunsgaard</a:t>
            </a:r>
            <a:endParaRPr lang="en-US" sz="140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C36972-F875-F446-4E72-C2C54DC1A1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Additional Compression Formats for Matrix Column Groups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CE1895E-8828-06FF-08A5-9389D6B3E0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8823" y="430062"/>
            <a:ext cx="1392779" cy="37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0925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BBD0AC3-12A3-C371-3CFD-5BA1205B164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Task</a:t>
            </a:r>
            <a:r>
              <a:rPr lang="en-US" b="0" dirty="0"/>
              <a:t> (in Java)</a:t>
            </a:r>
          </a:p>
          <a:p>
            <a:pPr lvl="1"/>
            <a:r>
              <a:rPr lang="en-US" dirty="0"/>
              <a:t>This project is to experiment with enabling compression on intermediate values.</a:t>
            </a:r>
          </a:p>
          <a:p>
            <a:pPr lvl="1"/>
            <a:r>
              <a:rPr lang="en-US" dirty="0"/>
              <a:t>Currently, the project supports compression of arbitrary intermediate values.</a:t>
            </a:r>
          </a:p>
          <a:p>
            <a:pPr lvl="1"/>
            <a:r>
              <a:rPr lang="en-US" dirty="0"/>
              <a:t>The goal of this project is to enable this feature, experiment with it across a number of algorithms, and report results, bugs and interesting findings.</a:t>
            </a:r>
          </a:p>
          <a:p>
            <a:pPr lvl="1"/>
            <a:r>
              <a:rPr lang="en-US" dirty="0"/>
              <a:t>In this process, if regressions or limitations are found, solutions are proposed and implemented.</a:t>
            </a:r>
          </a:p>
          <a:p>
            <a:r>
              <a:rPr lang="en-US" dirty="0"/>
              <a:t>More information &amp; hints</a:t>
            </a:r>
          </a:p>
          <a:p>
            <a:pPr lvl="1"/>
            <a:r>
              <a:rPr lang="en-US" dirty="0">
                <a:hlinkClick r:id="rId2"/>
              </a:rPr>
              <a:t>https://issues.apache.org/jira/browse/SYSTEMDS-3541</a:t>
            </a:r>
            <a:endParaRPr lang="en-US" dirty="0"/>
          </a:p>
          <a:p>
            <a:pPr lvl="1"/>
            <a:r>
              <a:rPr lang="en-US" dirty="0"/>
              <a:t>Contact: Sebastian </a:t>
            </a:r>
            <a:r>
              <a:rPr lang="en-US" dirty="0" err="1"/>
              <a:t>Baunsgaard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10919F-DABC-5EE8-956A-7570CB21DE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5867" y="396545"/>
            <a:ext cx="8655866" cy="717437"/>
          </a:xfrm>
        </p:spPr>
        <p:txBody>
          <a:bodyPr/>
          <a:lstStyle/>
          <a:p>
            <a:r>
              <a:rPr lang="en-US" dirty="0"/>
              <a:t>#3541: Exploratory Workload-aware Compression on Intermediates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DE760AA-C22B-AF6F-A11A-329EED963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8823" y="430062"/>
            <a:ext cx="1392779" cy="37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677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2ED2375-C0DC-96B4-4857-8CFCA7C0B1C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Task</a:t>
            </a:r>
            <a:r>
              <a:rPr lang="en-US" b="0" dirty="0"/>
              <a:t> (in Java)</a:t>
            </a:r>
          </a:p>
          <a:p>
            <a:pPr lvl="1"/>
            <a:r>
              <a:rPr lang="en-US" dirty="0"/>
              <a:t>Add a new instruction.</a:t>
            </a:r>
          </a:p>
          <a:p>
            <a:pPr lvl="1"/>
            <a:r>
              <a:rPr lang="en-US" dirty="0"/>
              <a:t>Assuming M is an matrix and S is a scaling constant, vector, or matrix; then implement a rewrite and instruction that fuse the following sequence of instructions:</a:t>
            </a:r>
          </a:p>
          <a:p>
            <a:pPr lvl="2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M2 = floor(M * S)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= compress(M2)</a:t>
            </a:r>
          </a:p>
          <a:p>
            <a:pPr lvl="1"/>
            <a:r>
              <a:rPr lang="en-US" dirty="0"/>
              <a:t>The result should be a CLA compressed quantized matrix according to the scaling values of S</a:t>
            </a:r>
          </a:p>
          <a:p>
            <a:pPr lvl="1"/>
            <a:r>
              <a:rPr lang="en-US" dirty="0"/>
              <a:t>In a passing implementation S is a scalar constant value</a:t>
            </a:r>
          </a:p>
          <a:p>
            <a:r>
              <a:rPr lang="en-US" dirty="0"/>
              <a:t>More information &amp; hints</a:t>
            </a:r>
          </a:p>
          <a:p>
            <a:pPr lvl="1"/>
            <a:r>
              <a:rPr lang="en-US" dirty="0">
                <a:hlinkClick r:id="rId2"/>
              </a:rPr>
              <a:t>https://issues.apache.org/jira/browse/SYSTEMDS-3780</a:t>
            </a:r>
            <a:endParaRPr lang="en-US" dirty="0"/>
          </a:p>
          <a:p>
            <a:pPr lvl="1"/>
            <a:r>
              <a:rPr lang="en-US" dirty="0"/>
              <a:t>Contact: Sebastian </a:t>
            </a:r>
            <a:r>
              <a:rPr lang="en-US" dirty="0" err="1"/>
              <a:t>Baunsgaard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0DB96D8-DE1B-C05A-6472-71544F42F6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#3780: Compression Fused Quantization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AB3A13A-88C4-6355-2597-0C98CBBEB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8823" y="430062"/>
            <a:ext cx="1392779" cy="37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593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FA7AC85F-7985-DEFA-2C43-299D3C34D9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Task</a:t>
            </a:r>
            <a:r>
              <a:rPr lang="en-US" b="0" dirty="0"/>
              <a:t> (in Java and Python)</a:t>
            </a:r>
          </a:p>
          <a:p>
            <a:pPr lvl="1"/>
            <a:r>
              <a:rPr lang="en-US" dirty="0"/>
              <a:t>This task is to optimize the data transfer between </a:t>
            </a:r>
            <a:r>
              <a:rPr lang="en-US" dirty="0" err="1"/>
              <a:t>SystemDS</a:t>
            </a:r>
            <a:r>
              <a:rPr lang="en-US" dirty="0"/>
              <a:t> and Python</a:t>
            </a:r>
          </a:p>
          <a:p>
            <a:pPr lvl="1"/>
            <a:r>
              <a:rPr lang="en-US" dirty="0"/>
              <a:t>Two starting points are string transfer of pandas data frame data both to and from </a:t>
            </a:r>
            <a:r>
              <a:rPr lang="en-US" dirty="0" err="1"/>
              <a:t>SystemDS</a:t>
            </a:r>
            <a:r>
              <a:rPr lang="en-US" dirty="0"/>
              <a:t> and </a:t>
            </a:r>
            <a:r>
              <a:rPr lang="en-US" dirty="0" err="1"/>
              <a:t>boolean</a:t>
            </a:r>
            <a:r>
              <a:rPr lang="en-US" dirty="0"/>
              <a:t> transfer from </a:t>
            </a:r>
            <a:r>
              <a:rPr lang="en-US" dirty="0" err="1"/>
              <a:t>SystemDS</a:t>
            </a:r>
            <a:r>
              <a:rPr lang="en-US" dirty="0"/>
              <a:t> that could be bit packed</a:t>
            </a:r>
          </a:p>
          <a:p>
            <a:pPr lvl="1"/>
            <a:r>
              <a:rPr lang="en-US" dirty="0"/>
              <a:t>The task includes benchmarking the interface to know how the performance is currently and what the limiting factors are</a:t>
            </a:r>
          </a:p>
          <a:p>
            <a:pPr lvl="1"/>
            <a:r>
              <a:rPr lang="en-US" dirty="0"/>
              <a:t>There is also an opportunity to try out parallel data transfer between the environments</a:t>
            </a:r>
          </a:p>
          <a:p>
            <a:pPr lvl="1"/>
            <a:r>
              <a:rPr lang="en-US" dirty="0"/>
              <a:t>There are multiple low hanging fruits for this task:</a:t>
            </a:r>
          </a:p>
          <a:p>
            <a:pPr lvl="2"/>
            <a:r>
              <a:rPr lang="en-US" dirty="0"/>
              <a:t>String transfer – This is currently done by transferring a single string at a time, making it unbearably slow because it calls Py4J once per cell.</a:t>
            </a:r>
          </a:p>
          <a:p>
            <a:pPr lvl="2"/>
            <a:r>
              <a:rPr lang="en-US" dirty="0"/>
              <a:t>Bit packed transfer – This is currently done by unpacking bits from a long into individual bytes, making the transfer 8x larger than it is supposed to be.</a:t>
            </a:r>
          </a:p>
          <a:p>
            <a:r>
              <a:rPr lang="en-US" dirty="0"/>
              <a:t>More Information &amp; Hints</a:t>
            </a:r>
          </a:p>
          <a:p>
            <a:pPr lvl="1"/>
            <a:r>
              <a:rPr lang="en-US" dirty="0">
                <a:solidFill>
                  <a:schemeClr val="tx1"/>
                </a:solidFill>
                <a:hlinkClick r:id="rId2"/>
              </a:rPr>
              <a:t>https://issues.apache.org/jira/browse/SYSTEMDS-3548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/>
              <a:t>Contact: Sebastian </a:t>
            </a:r>
            <a:r>
              <a:rPr lang="en-US" dirty="0" err="1"/>
              <a:t>Baunsgaard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E77FBA-309A-8C0A-AD39-253FAFB9D2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#3548: Optimize I/O Path of </a:t>
            </a:r>
            <a:r>
              <a:rPr lang="en-US" dirty="0" err="1">
                <a:solidFill>
                  <a:schemeClr val="accent1"/>
                </a:solidFill>
              </a:rPr>
              <a:t>SystemDS</a:t>
            </a:r>
            <a:r>
              <a:rPr lang="en-US" dirty="0">
                <a:solidFill>
                  <a:schemeClr val="accent1"/>
                </a:solidFill>
              </a:rPr>
              <a:t> Python Interface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2386FAD-E6CF-D71B-8C22-BEB8F7C01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8823" y="430062"/>
            <a:ext cx="1392779" cy="37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4951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2C7A083-BB03-472A-1D4B-0CF097BD48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Loop Vectorization</a:t>
            </a:r>
            <a:r>
              <a:rPr lang="en-US" b="0" dirty="0"/>
              <a:t> (in Java)</a:t>
            </a:r>
          </a:p>
          <a:p>
            <a:r>
              <a:rPr lang="en-US" dirty="0"/>
              <a:t>Extended Common Subexpression Elimination</a:t>
            </a:r>
            <a:r>
              <a:rPr lang="en-US" b="0" dirty="0"/>
              <a:t> (in Java)</a:t>
            </a:r>
            <a:endParaRPr lang="en-US" dirty="0"/>
          </a:p>
          <a:p>
            <a:r>
              <a:rPr lang="en-US" dirty="0"/>
              <a:t>Extended I/O Framework: Readers/Writers for More File Formats (</a:t>
            </a:r>
            <a:r>
              <a:rPr lang="en-US" dirty="0" err="1"/>
              <a:t>NetCDF</a:t>
            </a:r>
            <a:r>
              <a:rPr lang="en-US" dirty="0"/>
              <a:t>, HDF5, Arrow)</a:t>
            </a:r>
            <a:r>
              <a:rPr lang="en-US" b="0" dirty="0"/>
              <a:t> (in Java)</a:t>
            </a:r>
          </a:p>
          <a:p>
            <a:r>
              <a:rPr lang="en-US" dirty="0"/>
              <a:t>#3650 I/O Support for Cloud-optimized </a:t>
            </a:r>
            <a:r>
              <a:rPr lang="en-US" dirty="0" err="1"/>
              <a:t>GeoTIFF</a:t>
            </a:r>
            <a:r>
              <a:rPr lang="en-US" dirty="0"/>
              <a:t> (COG)</a:t>
            </a:r>
            <a:r>
              <a:rPr lang="en-US" b="0" dirty="0"/>
              <a:t> (in Java)</a:t>
            </a:r>
          </a:p>
          <a:p>
            <a:r>
              <a:rPr lang="en-US" dirty="0"/>
              <a:t>Various Model Debugging or Data Preprocessing Strategies</a:t>
            </a:r>
            <a:r>
              <a:rPr lang="en-US" b="0" dirty="0"/>
              <a:t> (in DML)</a:t>
            </a:r>
          </a:p>
          <a:p>
            <a:endParaRPr lang="en-US" b="0" dirty="0"/>
          </a:p>
          <a:p>
            <a:r>
              <a:rPr lang="en-US" dirty="0"/>
              <a:t>See also the </a:t>
            </a:r>
            <a:r>
              <a:rPr lang="en-US" dirty="0">
                <a:solidFill>
                  <a:srgbClr val="7889FB"/>
                </a:solidFill>
              </a:rPr>
              <a:t>full list</a:t>
            </a:r>
            <a:r>
              <a:rPr lang="en-US" dirty="0"/>
              <a:t> of available student projects in </a:t>
            </a:r>
            <a:r>
              <a:rPr lang="en-US" dirty="0" err="1"/>
              <a:t>SystemDS</a:t>
            </a:r>
            <a:r>
              <a:rPr lang="en-US" dirty="0"/>
              <a:t>:</a:t>
            </a:r>
            <a:br>
              <a:rPr lang="en-US" dirty="0"/>
            </a:br>
            <a:r>
              <a:rPr lang="en-US" b="0" dirty="0">
                <a:hlinkClick r:id="rId2"/>
              </a:rPr>
              <a:t>https://issues.apache.org/jira/secure/Dashboard.jspa?selectPageId=12335852#Filter-Results</a:t>
            </a:r>
            <a:r>
              <a:rPr lang="en-US" b="0">
                <a:hlinkClick r:id="rId2"/>
              </a:rPr>
              <a:t>/12365413</a:t>
            </a:r>
            <a:endParaRPr lang="en-US" dirty="0">
              <a:highlight>
                <a:srgbClr val="FFFF00"/>
              </a:highlight>
            </a:endParaRPr>
          </a:p>
          <a:p>
            <a:endParaRPr lang="en-US" dirty="0"/>
          </a:p>
          <a:p>
            <a:r>
              <a:rPr lang="en-US" dirty="0"/>
              <a:t>More information &amp; hints</a:t>
            </a:r>
          </a:p>
          <a:p>
            <a:pPr lvl="1"/>
            <a:r>
              <a:rPr lang="en-US" dirty="0"/>
              <a:t>Contact: Matthias Boehm</a:t>
            </a:r>
          </a:p>
          <a:p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57DEDE-F7F0-5F52-E66D-7795399FF4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More Topics in Apache </a:t>
            </a:r>
            <a:r>
              <a:rPr lang="en-US" dirty="0" err="1"/>
              <a:t>SystemDS</a:t>
            </a:r>
            <a:endParaRPr lang="en-US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691226E-C1A8-0EB6-C533-6FB584446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8823" y="430062"/>
            <a:ext cx="1392779" cy="37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5402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5975566-C3D0-6317-7A1C-FA52DAB450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Stand-alone and Cross-cutting Topics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82A4AED-3C52-F180-0033-18DBE7E006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8345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A25EAF7-2975-A4ED-B996-8497664734F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Task</a:t>
            </a:r>
            <a:r>
              <a:rPr lang="en-US" b="0" dirty="0"/>
              <a:t> (in your language of choice: Zig, C/C++, Java, Python, or Rust)</a:t>
            </a:r>
          </a:p>
          <a:p>
            <a:pPr lvl="1"/>
            <a:r>
              <a:rPr lang="en-US" dirty="0"/>
              <a:t>Compare different methods for compressing time series data</a:t>
            </a:r>
          </a:p>
          <a:p>
            <a:pPr lvl="1"/>
            <a:r>
              <a:rPr lang="en-US" dirty="0"/>
              <a:t>Implement lossless compression methods for comparison, e.g.</a:t>
            </a:r>
          </a:p>
          <a:p>
            <a:pPr lvl="2"/>
            <a:r>
              <a:rPr lang="en-US" dirty="0"/>
              <a:t>Optimal Piecewise Linear Approximation (</a:t>
            </a:r>
            <a:r>
              <a:rPr lang="en-US" dirty="0">
                <a:hlinkClick r:id="rId2"/>
              </a:rPr>
              <a:t>https://doi.org/10.1109/TSP.2006.875394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Facebook's Gorilla Lossless Compression (</a:t>
            </a:r>
            <a:r>
              <a:rPr lang="en-US" dirty="0">
                <a:hlinkClick r:id="rId3"/>
              </a:rPr>
              <a:t>https://www.vldb.org/pvldb/vol8/p1816-teller.pdf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Mix-Piece Linear Approximation (</a:t>
            </a:r>
            <a:r>
              <a:rPr lang="en-US" dirty="0">
                <a:hlinkClick r:id="rId4"/>
              </a:rPr>
              <a:t>https://link.springer.com/article/10.1007/s00778-024-00862-z</a:t>
            </a:r>
            <a:r>
              <a:rPr lang="en-US" dirty="0"/>
              <a:t>)</a:t>
            </a:r>
          </a:p>
          <a:p>
            <a:r>
              <a:rPr lang="en-US" dirty="0"/>
              <a:t>More information &amp; hints</a:t>
            </a:r>
          </a:p>
          <a:p>
            <a:pPr lvl="1"/>
            <a:r>
              <a:rPr lang="en-US" dirty="0"/>
              <a:t>Many algorithms are already implemented in </a:t>
            </a:r>
            <a:r>
              <a:rPr lang="en-US" dirty="0" err="1"/>
              <a:t>TerseTS</a:t>
            </a:r>
            <a:r>
              <a:rPr lang="en-US" dirty="0"/>
              <a:t> (a library for time series compression) which we will reuse</a:t>
            </a:r>
          </a:p>
          <a:p>
            <a:pPr lvl="1"/>
            <a:r>
              <a:rPr lang="en-US" dirty="0"/>
              <a:t>The implemented algorithms shall be added to the open-source </a:t>
            </a:r>
            <a:r>
              <a:rPr lang="en-US" dirty="0" err="1"/>
              <a:t>TerseTS</a:t>
            </a:r>
            <a:r>
              <a:rPr lang="en-US" dirty="0"/>
              <a:t> library (written in Zig)</a:t>
            </a:r>
          </a:p>
          <a:p>
            <a:pPr lvl="1"/>
            <a:r>
              <a:rPr lang="en-US" dirty="0"/>
              <a:t>Depending on the team size, other algorithms can be added for implementation</a:t>
            </a:r>
          </a:p>
          <a:p>
            <a:pPr lvl="1"/>
            <a:r>
              <a:rPr lang="en-US" dirty="0"/>
              <a:t>Contact: Carlos E. Muniz </a:t>
            </a:r>
            <a:r>
              <a:rPr lang="en-US" dirty="0" err="1"/>
              <a:t>Cuza</a:t>
            </a:r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189AABC-7A29-D626-557E-B5F0CC5CE7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5866" y="396545"/>
            <a:ext cx="9270885" cy="717437"/>
          </a:xfrm>
        </p:spPr>
        <p:txBody>
          <a:bodyPr/>
          <a:lstStyle/>
          <a:p>
            <a:r>
              <a:rPr lang="en-US" dirty="0"/>
              <a:t>Benchmarking Polynomial Approximation for Time Series Compression</a:t>
            </a:r>
          </a:p>
        </p:txBody>
      </p:sp>
    </p:spTree>
    <p:extLst>
      <p:ext uri="{BB962C8B-B14F-4D97-AF65-F5344CB8AC3E}">
        <p14:creationId xmlns:p14="http://schemas.microsoft.com/office/powerpoint/2010/main" val="37768460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A9518EC-1644-3841-1DE1-9B656CF11C0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We are open to additional topic proposals</a:t>
            </a:r>
          </a:p>
          <a:p>
            <a:pPr lvl="1"/>
            <a:r>
              <a:rPr lang="en-US" dirty="0"/>
              <a:t>In the context of data engineering, data management, and machine learning systems</a:t>
            </a:r>
          </a:p>
          <a:p>
            <a:pPr lvl="1"/>
            <a:r>
              <a:rPr lang="en-US" dirty="0"/>
              <a:t>If you are passionate about your idea</a:t>
            </a:r>
          </a:p>
          <a:p>
            <a:pPr lvl="1"/>
            <a:r>
              <a:rPr lang="en-US" dirty="0"/>
              <a:t>More topics in </a:t>
            </a:r>
            <a:r>
              <a:rPr lang="en-US" dirty="0" err="1"/>
              <a:t>SystemsDS</a:t>
            </a:r>
            <a:r>
              <a:rPr lang="en-US" dirty="0"/>
              <a:t> and DAPHNE or other open-source systems possible,</a:t>
            </a:r>
            <a:br>
              <a:rPr lang="en-US" dirty="0"/>
            </a:br>
            <a:r>
              <a:rPr lang="en-US" dirty="0"/>
              <a:t>but contributions might be more difficult to get accepted</a:t>
            </a:r>
          </a:p>
          <a:p>
            <a:pPr lvl="1"/>
            <a:r>
              <a:rPr lang="en-US" b="1" dirty="0"/>
              <a:t>If you would like to propose your own topic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approach me by email </a:t>
            </a:r>
            <a:r>
              <a:rPr lang="en-US" b="1">
                <a:solidFill>
                  <a:srgbClr val="C00000"/>
                </a:solidFill>
              </a:rPr>
              <a:t>by Oct 31, 23:59 CET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in any case, </a:t>
            </a:r>
            <a:r>
              <a:rPr lang="en-US" b="1" dirty="0">
                <a:solidFill>
                  <a:srgbClr val="7889FB"/>
                </a:solidFill>
              </a:rPr>
              <a:t>also fill in the poll regarding the topic selection with your preferred topics from the list above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24167E-D95D-C44D-9840-2617D17B80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Alternative: Propose Your Own Topic Idea</a:t>
            </a:r>
          </a:p>
        </p:txBody>
      </p:sp>
    </p:spTree>
    <p:extLst>
      <p:ext uri="{BB962C8B-B14F-4D97-AF65-F5344CB8AC3E}">
        <p14:creationId xmlns:p14="http://schemas.microsoft.com/office/powerpoint/2010/main" val="3181994945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ctr">
          <a:defRPr dirty="0" err="1" smtClean="0">
            <a:solidFill>
              <a:srgbClr val="000000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9" id="{246E6033-15ED-8042-86E0-B76FF5BFC716}" vid="{7CAADE83-5F25-0A48-B83D-03A7471B880E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TU-Berlin-Praesentation-Master-Verlauf-Orange-Rot</Template>
  <TotalTime>0</TotalTime>
  <Words>2594</Words>
  <Application>Microsoft Office PowerPoint</Application>
  <PresentationFormat>Breitbild</PresentationFormat>
  <Paragraphs>199</Paragraphs>
  <Slides>21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7" baseType="lpstr">
      <vt:lpstr>Arial</vt:lpstr>
      <vt:lpstr>Calibri</vt:lpstr>
      <vt:lpstr>Courier New</vt:lpstr>
      <vt:lpstr>OpenSymbol</vt:lpstr>
      <vt:lpstr>Wingdings</vt:lpstr>
      <vt:lpstr>Master für Folgeseiten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Large-scale Data Engineering: List of Topics</dc:title>
  <dc:creator>Patrick Damme</dc:creator>
  <cp:lastModifiedBy>TU-Pseudonym 3624437813768008</cp:lastModifiedBy>
  <cp:revision>929</cp:revision>
  <cp:lastPrinted>2021-03-24T16:10:50Z</cp:lastPrinted>
  <dcterms:created xsi:type="dcterms:W3CDTF">2023-02-25T13:39:16Z</dcterms:created>
  <dcterms:modified xsi:type="dcterms:W3CDTF">2024-10-14T19:58:32Z</dcterms:modified>
</cp:coreProperties>
</file>